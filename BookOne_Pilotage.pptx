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68" r:id="rId4"/>
    <p:sldId id="258" r:id="rId5"/>
    <p:sldId id="259" r:id="rId6"/>
    <p:sldId id="260" r:id="rId7"/>
    <p:sldId id="262" r:id="rId8"/>
    <p:sldId id="263" r:id="rId9"/>
    <p:sldId id="267" r:id="rId10"/>
    <p:sldId id="261" r:id="rId11"/>
    <p:sldId id="264" r:id="rId12"/>
    <p:sldId id="265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0" d="100"/>
          <a:sy n="140" d="100"/>
        </p:scale>
        <p:origin x="144" y="2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E2761"/>
                </a:solidFill>
                <a:latin typeface="Arial"/>
              </a:defRPr>
            </a:pPr>
            <a:r>
              <a:rPr lang="fr-FR" sz="1100" b="0" i="0" u="none" strike="noStrike">
                <a:solidFill>
                  <a:srgbClr val="1E2761"/>
                </a:solidFill>
                <a:latin typeface="Arial"/>
              </a:rPr>
              <a:t>Coûts cumulés — Planifié vs Réel (EUR)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Planifié cumulé</c:v>
                </c:pt>
              </c:strCache>
            </c:strRef>
          </c:tx>
          <c:spPr>
            <a:ln w="31750" cap="flat">
              <a:solidFill>
                <a:srgbClr val="1E2761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strRef>
              <c:f>Sheet1!$A$2:$A$9</c:f>
              <c:strCache>
                <c:ptCount val="8"/>
                <c:pt idx="0">
                  <c:v>S1</c:v>
                </c:pt>
                <c:pt idx="1">
                  <c:v>S2</c:v>
                </c:pt>
                <c:pt idx="2">
                  <c:v>S3</c:v>
                </c:pt>
                <c:pt idx="3">
                  <c:v>S4</c:v>
                </c:pt>
                <c:pt idx="4">
                  <c:v>S5</c:v>
                </c:pt>
                <c:pt idx="5">
                  <c:v>S6</c:v>
                </c:pt>
                <c:pt idx="6">
                  <c:v>S7</c:v>
                </c:pt>
                <c:pt idx="7">
                  <c:v>S8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4000</c:v>
                </c:pt>
                <c:pt idx="1">
                  <c:v>8500</c:v>
                </c:pt>
                <c:pt idx="2">
                  <c:v>14200</c:v>
                </c:pt>
                <c:pt idx="3">
                  <c:v>20100</c:v>
                </c:pt>
                <c:pt idx="4">
                  <c:v>24500</c:v>
                </c:pt>
                <c:pt idx="5">
                  <c:v>27800</c:v>
                </c:pt>
                <c:pt idx="6">
                  <c:v>30200</c:v>
                </c:pt>
                <c:pt idx="7">
                  <c:v>31590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4FF-453C-8615-252AAA52CDB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Réel cumulé</c:v>
                </c:pt>
              </c:strCache>
            </c:strRef>
          </c:tx>
          <c:spPr>
            <a:ln w="31750" cap="flat">
              <a:solidFill>
                <a:srgbClr val="E24B4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24B4A"/>
              </a:solidFill>
              <a:ln w="9525" cap="flat">
                <a:solidFill>
                  <a:srgbClr val="E24B4A"/>
                </a:solidFill>
                <a:prstDash val="solid"/>
                <a:round/>
              </a:ln>
              <a:effectLst/>
            </c:spPr>
          </c:marker>
          <c:cat>
            <c:strRef>
              <c:f>Sheet1!$A$2:$A$9</c:f>
              <c:strCache>
                <c:ptCount val="8"/>
                <c:pt idx="0">
                  <c:v>S1</c:v>
                </c:pt>
                <c:pt idx="1">
                  <c:v>S2</c:v>
                </c:pt>
                <c:pt idx="2">
                  <c:v>S3</c:v>
                </c:pt>
                <c:pt idx="3">
                  <c:v>S4</c:v>
                </c:pt>
                <c:pt idx="4">
                  <c:v>S5</c:v>
                </c:pt>
                <c:pt idx="5">
                  <c:v>S6</c:v>
                </c:pt>
                <c:pt idx="6">
                  <c:v>S7</c:v>
                </c:pt>
                <c:pt idx="7">
                  <c:v>S8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3800</c:v>
                </c:pt>
                <c:pt idx="1">
                  <c:v>8200</c:v>
                </c:pt>
                <c:pt idx="2">
                  <c:v>14600</c:v>
                </c:pt>
                <c:pt idx="3">
                  <c:v>21000</c:v>
                </c:pt>
                <c:pt idx="4">
                  <c:v>25800</c:v>
                </c:pt>
                <c:pt idx="5">
                  <c:v>29500</c:v>
                </c:pt>
                <c:pt idx="6">
                  <c:v>32000</c:v>
                </c:pt>
                <c:pt idx="7">
                  <c:v>33422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4FF-453C-8615-252AAA52CDB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90375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86FD3B-5FFC-4977-6553-B902C30CC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FF1299-E567-5CFD-A387-CA73203757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FA9262-906D-4380-6196-97E0DCB91A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E5FB2F-17AA-6291-3B1A-3A3182AD2B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2355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96459C-3D91-9098-DEC6-3F7F429FA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82A53E-0F2C-83EF-C66C-7CC5F588F2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839775-2F80-15F1-C47E-20FE7392EA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CDA89A-D6BD-12BD-E0FE-39CFBAC70F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8249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pilotageparlescoutsbookone-2rpmwdnglhrjbepnwr3l6k.streamlit.app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0" y="0"/>
            <a:ext cx="2926080" cy="5143500"/>
          </a:xfrm>
          <a:prstGeom prst="rect">
            <a:avLst/>
          </a:prstGeom>
          <a:solidFill>
            <a:srgbClr val="162050"/>
          </a:solidFill>
          <a:ln w="12700">
            <a:solidFill>
              <a:srgbClr val="16205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35040" y="0"/>
            <a:ext cx="109728" cy="5143500"/>
          </a:xfrm>
          <a:prstGeom prst="rect">
            <a:avLst/>
          </a:prstGeom>
          <a:solidFill>
            <a:srgbClr val="E24B4A"/>
          </a:solidFill>
          <a:ln w="12700">
            <a:solidFill>
              <a:srgbClr val="E24B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8229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CADCF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RAPPORT DE PILOTAGE — STARTUP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1188720"/>
            <a:ext cx="5303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One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502920" y="219456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ADCF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MVP Mobile — « Tous les livres à 1 € »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02920" y="2834640"/>
            <a:ext cx="2286000" cy="36576"/>
          </a:xfrm>
          <a:prstGeom prst="rect">
            <a:avLst/>
          </a:prstGeom>
          <a:solidFill>
            <a:srgbClr val="E24B4A"/>
          </a:solidFill>
          <a:ln w="12700">
            <a:solidFill>
              <a:srgbClr val="E24B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297180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 : 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Janvier – Février 2025  |  8 semaines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329184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validé : 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130 000 EUR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361188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Équipe : 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profils (CDI, Alternant, Stagiaire, Freelance)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4206240"/>
            <a:ext cx="2011680" cy="457200"/>
          </a:xfrm>
          <a:prstGeom prst="roundRect">
            <a:avLst>
              <a:gd name="adj" fmla="val 16000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42062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LIVRE — S8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92240" y="1097280"/>
            <a:ext cx="914400" cy="914400"/>
          </a:xfrm>
          <a:prstGeom prst="ellipse">
            <a:avLst/>
          </a:prstGeom>
          <a:solidFill>
            <a:srgbClr val="1A2F6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123444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taches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46520" y="1664208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Tâches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492240" y="2194560"/>
            <a:ext cx="914400" cy="914400"/>
          </a:xfrm>
          <a:prstGeom prst="ellipse">
            <a:avLst/>
          </a:prstGeom>
          <a:solidFill>
            <a:srgbClr val="1A2F6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233172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profils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46520" y="2761488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Équipe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492240" y="3291840"/>
            <a:ext cx="914400" cy="914400"/>
          </a:xfrm>
          <a:prstGeom prst="ellipse">
            <a:avLst/>
          </a:prstGeom>
          <a:solidFill>
            <a:srgbClr val="1A2F6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46520" y="342900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 j/h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46520" y="3858768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Charge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0" y="4892040"/>
            <a:ext cx="9144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Confidentiel — Réservé à la Direction et aux Investisseurs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&amp; Périmètre MVP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11480" y="749808"/>
            <a:ext cx="8321040" cy="22860"/>
          </a:xfrm>
          <a:prstGeom prst="rect">
            <a:avLst/>
          </a:prstGeom>
          <a:solidFill>
            <a:srgbClr val="D1D9F0"/>
          </a:solidFill>
          <a:ln w="12700">
            <a:solidFill>
              <a:srgbClr val="D1D9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1480" y="914400"/>
            <a:ext cx="3931920" cy="35661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9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914400"/>
            <a:ext cx="3931920" cy="320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9144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CONCEPT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1325880"/>
            <a:ext cx="365760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mobile de troc de livres à 1 €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Dépôt de 3 livres → 1 crédit d'achat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Catalogue géolocalisé — « livres autour de moi »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Paiement Stripe · Messagerie RDV intégrée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vente &amp; souhait disponible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ISBN via caméra mobile (Open Library)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17720" y="914400"/>
            <a:ext cx="4114800" cy="35661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9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17720" y="914400"/>
            <a:ext cx="4114800" cy="320040"/>
          </a:xfrm>
          <a:prstGeom prst="rect">
            <a:avLst/>
          </a:prstGeom>
          <a:solidFill>
            <a:srgbClr val="378ADD"/>
          </a:solidFill>
          <a:ln w="12700">
            <a:solidFill>
              <a:srgbClr val="378A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9144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CALENDRIER &amp; STACK TECHNIQUE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1417320"/>
            <a:ext cx="109728" cy="457200"/>
          </a:xfrm>
          <a:prstGeom prst="rect">
            <a:avLst/>
          </a:prstGeom>
          <a:solidFill>
            <a:srgbClr val="7F77DD"/>
          </a:solidFill>
          <a:ln w="12700">
            <a:solidFill>
              <a:srgbClr val="7F77D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56048" y="1417320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Cadrage / Archi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956048" y="1645920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S1–S2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223760" y="1463040"/>
            <a:ext cx="1280160" cy="365760"/>
          </a:xfrm>
          <a:prstGeom prst="rect">
            <a:avLst/>
          </a:prstGeom>
          <a:solidFill>
            <a:srgbClr val="EDF2FB"/>
          </a:solidFill>
          <a:ln w="8890">
            <a:solidFill>
              <a:srgbClr val="7F77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23760" y="14630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F7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S1–S2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2057400"/>
            <a:ext cx="109728" cy="457200"/>
          </a:xfrm>
          <a:prstGeom prst="rect">
            <a:avLst/>
          </a:prstGeom>
          <a:solidFill>
            <a:srgbClr val="378ADD"/>
          </a:solidFill>
          <a:ln w="12700">
            <a:solidFill>
              <a:srgbClr val="378A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56048" y="2057400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MVP core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956048" y="2286000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S3–S6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223760" y="2103120"/>
            <a:ext cx="1280160" cy="365760"/>
          </a:xfrm>
          <a:prstGeom prst="rect">
            <a:avLst/>
          </a:prstGeom>
          <a:solidFill>
            <a:srgbClr val="EDF2FB"/>
          </a:solidFill>
          <a:ln w="8890">
            <a:solidFill>
              <a:srgbClr val="378A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23760" y="210312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78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S3–S6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754880" y="2697480"/>
            <a:ext cx="109728" cy="457200"/>
          </a:xfrm>
          <a:prstGeom prst="rect">
            <a:avLst/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56048" y="2697480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&amp; Recette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956048" y="2926080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S6–S7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23760" y="2743200"/>
            <a:ext cx="1280160" cy="365760"/>
          </a:xfrm>
          <a:prstGeom prst="rect">
            <a:avLst/>
          </a:prstGeom>
          <a:solidFill>
            <a:srgbClr val="EDF2FB"/>
          </a:solidFill>
          <a:ln w="8890">
            <a:solidFill>
              <a:srgbClr val="BA751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23760" y="274320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S6–S7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54880" y="3337560"/>
            <a:ext cx="109728" cy="45720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56048" y="3337560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 en prod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956048" y="3566160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S8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3760" y="3383280"/>
            <a:ext cx="1280160" cy="365760"/>
          </a:xfrm>
          <a:prstGeom prst="rect">
            <a:avLst/>
          </a:prstGeom>
          <a:solidFill>
            <a:srgbClr val="EDF2FB"/>
          </a:solidFill>
          <a:ln w="8890">
            <a:solidFill>
              <a:srgbClr val="1D9E7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23760" y="338328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S8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54880" y="40233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Stack : Flutter · Node.js/Express · PostgreSQL · GCP · Stripe · Firebase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0" y="4892040"/>
            <a:ext cx="9144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Book One MVP — Pilotage RH par les coûts</a:t>
            </a:r>
            <a:endParaRPr lang="en-US" sz="850" dirty="0"/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097871D7-495E-90E2-5EF0-073A1A40D741}"/>
              </a:ext>
            </a:extLst>
          </p:cNvPr>
          <p:cNvSpPr txBox="1"/>
          <p:nvPr/>
        </p:nvSpPr>
        <p:spPr>
          <a:xfrm>
            <a:off x="2178050" y="3337560"/>
            <a:ext cx="2082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900" dirty="0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https://pilotageparlescoutsbookone-2rpmwdnglhrjbepnwr3l6k.streamlit.app/</a:t>
            </a:r>
            <a:endParaRPr lang="fr-FR" sz="9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fr-FR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D3C638F1-CC89-DDFF-2CD7-736D1299F9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6057" y="3171683"/>
            <a:ext cx="1057417" cy="1057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7005F7-A41E-5C65-87BC-0DD62B9E3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0">
            <a:extLst>
              <a:ext uri="{FF2B5EF4-FFF2-40B4-BE49-F238E27FC236}">
                <a16:creationId xmlns:a16="http://schemas.microsoft.com/office/drawing/2014/main" id="{6338F35F-512F-4624-41FC-BF84A54A4EAC}"/>
              </a:ext>
            </a:extLst>
          </p:cNvPr>
          <p:cNvSpPr/>
          <p:nvPr/>
        </p:nvSpPr>
        <p:spPr>
          <a:xfrm>
            <a:off x="411480" y="22860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</a:t>
            </a:r>
            <a:endParaRPr lang="en-US" sz="2600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429B666C-FC92-45BF-BC78-8D79DB5E30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641" y="1173707"/>
            <a:ext cx="1545212" cy="33488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E066E54A-64E3-F035-0277-53DFF14224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8344" y="1173706"/>
            <a:ext cx="1545212" cy="3348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251939A4-81B0-DDF6-CA18-2DC09F8E08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88923" y="1173707"/>
            <a:ext cx="1545212" cy="3348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>
            <a:extLst>
              <a:ext uri="{FF2B5EF4-FFF2-40B4-BE49-F238E27FC236}">
                <a16:creationId xmlns:a16="http://schemas.microsoft.com/office/drawing/2014/main" id="{225188B5-78FD-4652-7CE6-DDFAC67344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4854" y="1173707"/>
            <a:ext cx="1485387" cy="32191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559546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Équipe Projet — 7 Profils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11480" y="749808"/>
            <a:ext cx="8321040" cy="22860"/>
          </a:xfrm>
          <a:prstGeom prst="rect">
            <a:avLst/>
          </a:prstGeom>
          <a:solidFill>
            <a:srgbClr val="D1D9F0"/>
          </a:solidFill>
          <a:ln w="12700">
            <a:solidFill>
              <a:srgbClr val="D1D9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1480" y="914400"/>
            <a:ext cx="26974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1D9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914400"/>
            <a:ext cx="82296" cy="868680"/>
          </a:xfrm>
          <a:prstGeom prst="rect">
            <a:avLst/>
          </a:prstGeom>
          <a:solidFill>
            <a:srgbClr val="7F77DD"/>
          </a:solidFill>
          <a:ln w="12700">
            <a:solidFill>
              <a:srgbClr val="7F77D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423160" y="987552"/>
            <a:ext cx="621792" cy="2011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423160" y="987552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CDI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566928" y="98755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Chef Projet / PO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123444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Cadre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66928" y="1435608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70 000 € brut/an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057400" y="143560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7F7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450 €/j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83280" y="914400"/>
            <a:ext cx="26974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1D9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383280" y="914400"/>
            <a:ext cx="82296" cy="86868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94960" y="987552"/>
            <a:ext cx="621792" cy="2011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94960" y="987552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CDI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3538728" y="98755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Backend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538728" y="123444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ETAM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538728" y="1435608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55 000 € brut/an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029200" y="143560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360 €/j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0" y="914400"/>
            <a:ext cx="26974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1D9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0800" y="914400"/>
            <a:ext cx="82296" cy="868680"/>
          </a:xfrm>
          <a:prstGeom prst="rect">
            <a:avLst/>
          </a:prstGeom>
          <a:solidFill>
            <a:srgbClr val="378ADD"/>
          </a:solidFill>
          <a:ln w="12700">
            <a:solidFill>
              <a:srgbClr val="378AD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412480" y="987552"/>
            <a:ext cx="621792" cy="2011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12480" y="987552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CDI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6556248" y="98755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Designer web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56248" y="123444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ETAM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556248" y="1435608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58 000 € brut/an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046720" y="143560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378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380 €/j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11480" y="2011680"/>
            <a:ext cx="26974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1D9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11480" y="2011680"/>
            <a:ext cx="82296" cy="868680"/>
          </a:xfrm>
          <a:prstGeom prst="rect">
            <a:avLst/>
          </a:prstGeom>
          <a:solidFill>
            <a:srgbClr val="D4537E"/>
          </a:solidFill>
          <a:ln w="12700">
            <a:solidFill>
              <a:srgbClr val="D4537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423160" y="2084832"/>
            <a:ext cx="621792" cy="2011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23160" y="2084832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CDI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566928" y="208483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Engineer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66928" y="233172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ETAM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66928" y="2532888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48 000 € brut/an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057400" y="25328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D45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310 €/j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383280" y="2011680"/>
            <a:ext cx="26974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1D9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383280" y="2011680"/>
            <a:ext cx="82296" cy="86868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94960" y="2084832"/>
            <a:ext cx="621792" cy="20116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394960" y="2084832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STAGIAIRE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3538728" y="208483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Stagiaire Recette/Doc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538728" y="233172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Stagiaire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538728" y="2532888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7 800 € brut/an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029200" y="25328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52 €/j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400800" y="2011680"/>
            <a:ext cx="26974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1D9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6400800" y="2011680"/>
            <a:ext cx="82296" cy="868680"/>
          </a:xfrm>
          <a:prstGeom prst="rect">
            <a:avLst/>
          </a:prstGeom>
          <a:solidFill>
            <a:srgbClr val="B4B2A9"/>
          </a:solidFill>
          <a:ln w="12700">
            <a:solidFill>
              <a:srgbClr val="B4B2A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412480" y="2084832"/>
            <a:ext cx="621792" cy="201168"/>
          </a:xfrm>
          <a:prstGeom prst="rect">
            <a:avLst/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412480" y="2084832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ALTERNANT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6556248" y="208483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Alternant UX/Dev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6556248" y="233172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Alternant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6556248" y="2532888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18 000 € brut/an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8046720" y="25328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90 €/j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411480" y="3108960"/>
            <a:ext cx="26974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1D9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411480" y="3108960"/>
            <a:ext cx="82296" cy="868680"/>
          </a:xfrm>
          <a:prstGeom prst="rect">
            <a:avLst/>
          </a:prstGeom>
          <a:solidFill>
            <a:srgbClr val="E24B4A"/>
          </a:solidFill>
          <a:ln w="12700">
            <a:solidFill>
              <a:srgbClr val="E24B4A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423160" y="3182112"/>
            <a:ext cx="621792" cy="201168"/>
          </a:xfrm>
          <a:prstGeom prst="rect">
            <a:avLst/>
          </a:prstGeom>
          <a:solidFill>
            <a:srgbClr val="E24B4A"/>
          </a:solidFill>
          <a:ln w="12700">
            <a:solidFill>
              <a:srgbClr val="E24B4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423160" y="3182112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FREELANCE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566928" y="318211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Freelance Paiement/Sécu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66928" y="342900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Freelance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566928" y="3630168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155 000 € brut/an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2057400" y="363016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E24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800 €/j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0" y="4892040"/>
            <a:ext cx="9144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Book One MVP — Pilotage RH par les coûts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RH — Répartition des Coûts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11480" y="749808"/>
            <a:ext cx="8321040" cy="22860"/>
          </a:xfrm>
          <a:prstGeom prst="rect">
            <a:avLst/>
          </a:prstGeom>
          <a:solidFill>
            <a:srgbClr val="D1D9F0"/>
          </a:solidFill>
          <a:ln w="12700">
            <a:solidFill>
              <a:srgbClr val="D1D9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1480" y="914400"/>
            <a:ext cx="2011680" cy="822960"/>
          </a:xfrm>
          <a:prstGeom prst="rect">
            <a:avLst/>
          </a:prstGeom>
          <a:solidFill>
            <a:srgbClr val="FFFFFF"/>
          </a:solidFill>
          <a:ln w="1524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914400"/>
            <a:ext cx="2011680" cy="640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024128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24 390 €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11480" y="1389888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RH total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11480" y="1572768"/>
            <a:ext cx="20116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86% du budget validé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560320" y="914400"/>
            <a:ext cx="2011680" cy="822960"/>
          </a:xfrm>
          <a:prstGeom prst="rect">
            <a:avLst/>
          </a:prstGeom>
          <a:solidFill>
            <a:srgbClr val="FFFFFF"/>
          </a:solidFill>
          <a:ln w="15240">
            <a:solidFill>
              <a:srgbClr val="378AD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60320" y="914400"/>
            <a:ext cx="2011680" cy="64008"/>
          </a:xfrm>
          <a:prstGeom prst="rect">
            <a:avLst/>
          </a:prstGeom>
          <a:solidFill>
            <a:srgbClr val="378ADD"/>
          </a:solidFill>
          <a:ln w="12700">
            <a:solidFill>
              <a:srgbClr val="378A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0" y="1024128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78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7 200 €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560320" y="1389888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hors-RH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560320" y="1572768"/>
            <a:ext cx="20116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Infra, licences, APIs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709160" y="914400"/>
            <a:ext cx="2011680" cy="822960"/>
          </a:xfrm>
          <a:prstGeom prst="rect">
            <a:avLst/>
          </a:prstGeom>
          <a:solidFill>
            <a:srgbClr val="FFFFFF"/>
          </a:solidFill>
          <a:ln w="15240">
            <a:solidFill>
              <a:srgbClr val="BA751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914400"/>
            <a:ext cx="2011680" cy="64008"/>
          </a:xfrm>
          <a:prstGeom prst="rect">
            <a:avLst/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09160" y="1024128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10 800 €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709160" y="1389888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risques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709160" y="1572768"/>
            <a:ext cx="20116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Couverture risques S4–S8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858000" y="914400"/>
            <a:ext cx="2011680" cy="822960"/>
          </a:xfrm>
          <a:prstGeom prst="rect">
            <a:avLst/>
          </a:prstGeom>
          <a:solidFill>
            <a:srgbClr val="FFFFFF"/>
          </a:solidFill>
          <a:ln w="15240">
            <a:solidFill>
              <a:srgbClr val="1D9E75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858000" y="914400"/>
            <a:ext cx="2011680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0" y="1024128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54 010 €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858000" y="1389888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validé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858000" y="1572768"/>
            <a:ext cx="20116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Enveloppe totale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11480" y="1920240"/>
            <a:ext cx="8321040" cy="2560320"/>
          </a:xfrm>
          <a:prstGeom prst="rect">
            <a:avLst/>
          </a:prstGeom>
          <a:solidFill>
            <a:srgbClr val="FFFFFF"/>
          </a:solidFill>
          <a:ln w="6350">
            <a:solidFill>
              <a:srgbClr val="D1D9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48640" y="19933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par profil — Projet (8 semaines)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0" y="4892040"/>
            <a:ext cx="9144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Book One MVP — Pilotage RH par les coûts</a:t>
            </a:r>
            <a:endParaRPr lang="en-US" sz="850" dirty="0"/>
          </a:p>
        </p:txBody>
      </p:sp>
      <p:graphicFrame>
        <p:nvGraphicFramePr>
          <p:cNvPr id="28" name="Tableau 27">
            <a:extLst>
              <a:ext uri="{FF2B5EF4-FFF2-40B4-BE49-F238E27FC236}">
                <a16:creationId xmlns:a16="http://schemas.microsoft.com/office/drawing/2014/main" id="{AE28C944-1C99-27EB-8686-F747FA134E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9733923"/>
              </p:ext>
            </p:extLst>
          </p:nvPr>
        </p:nvGraphicFramePr>
        <p:xfrm>
          <a:off x="558800" y="2243137"/>
          <a:ext cx="7559040" cy="2080207"/>
        </p:xfrm>
        <a:graphic>
          <a:graphicData uri="http://schemas.openxmlformats.org/drawingml/2006/table">
            <a:tbl>
              <a:tblPr/>
              <a:tblGrid>
                <a:gridCol w="893064">
                  <a:extLst>
                    <a:ext uri="{9D8B030D-6E8A-4147-A177-3AD203B41FA5}">
                      <a16:colId xmlns:a16="http://schemas.microsoft.com/office/drawing/2014/main" val="149939218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3183701434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1874677557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3020892783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4019893781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706532152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4256605999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940049400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984820190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667017060"/>
                    </a:ext>
                  </a:extLst>
                </a:gridCol>
              </a:tblGrid>
              <a:tr h="25819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Profil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Type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900" b="0" i="0" u="none" strike="noStrike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Statut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Salaire Brut (€)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900" b="0" i="0" u="none" strike="noStrike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Taux Charges (%)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Coût Annuel (€)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J/H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Taux/j (€)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900" b="0" i="0" u="none" strike="noStrike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Coût Projet (€)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Part Projet (%)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2231833"/>
                  </a:ext>
                </a:extLst>
              </a:tr>
              <a:tr h="14265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 Backend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CDI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ETAM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55000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78100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360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6840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6089499"/>
                  </a:ext>
                </a:extLst>
              </a:tr>
              <a:tr h="14265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 Mobile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CDI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ETAM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58000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82360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380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5700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26,7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3355626"/>
                  </a:ext>
                </a:extLst>
              </a:tr>
              <a:tr h="25819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Chef projet / PO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CDI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Cadre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70000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101500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470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3290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15,4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387289"/>
                  </a:ext>
                </a:extLst>
              </a:tr>
              <a:tr h="38373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Freelance Paiement/Sécu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FREELANCE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Freelance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80000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80000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400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3200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3408271"/>
                  </a:ext>
                </a:extLst>
              </a:tr>
              <a:tr h="14265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QA Engineer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CDI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ETAM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48000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68160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310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1860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8,7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6310857"/>
                  </a:ext>
                </a:extLst>
              </a:tr>
              <a:tr h="25819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Alternant UX/UI/Dev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ALTERNANT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Alternant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18000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19800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360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1,7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9159657"/>
                  </a:ext>
                </a:extLst>
              </a:tr>
              <a:tr h="25819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Stagiaire Recette/Doc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STAGIAIRE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Stagiaire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7800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7800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840317"/>
                  </a:ext>
                </a:extLst>
              </a:tr>
              <a:tr h="14265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336800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437720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21350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180577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Projet — 24 Tâches · 8 Semaines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11480" y="749808"/>
            <a:ext cx="8321040" cy="22860"/>
          </a:xfrm>
          <a:prstGeom prst="rect">
            <a:avLst/>
          </a:prstGeom>
          <a:solidFill>
            <a:srgbClr val="D1D9F0"/>
          </a:solidFill>
          <a:ln w="12700">
            <a:solidFill>
              <a:srgbClr val="D1D9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560320" y="914400"/>
            <a:ext cx="749808" cy="2560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560320" y="91440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28416" y="914400"/>
            <a:ext cx="749808" cy="2560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28416" y="91440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096512" y="914400"/>
            <a:ext cx="749808" cy="2560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096512" y="91440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64608" y="914400"/>
            <a:ext cx="749808" cy="2560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91440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632704" y="914400"/>
            <a:ext cx="749808" cy="2560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32704" y="91440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0" y="914400"/>
            <a:ext cx="749808" cy="2560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91440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S6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68896" y="914400"/>
            <a:ext cx="749808" cy="2560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68896" y="91440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S7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936992" y="914400"/>
            <a:ext cx="749808" cy="2560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36992" y="91440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S8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560320" y="658368"/>
            <a:ext cx="30723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Janvier 2025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32704" y="658368"/>
            <a:ext cx="30723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Février 2025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1480" y="1261872"/>
            <a:ext cx="2103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Cadrage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560320" y="1271016"/>
            <a:ext cx="731520" cy="201168"/>
          </a:xfrm>
          <a:prstGeom prst="rect">
            <a:avLst/>
          </a:prstGeom>
          <a:solidFill>
            <a:srgbClr val="7F77DD"/>
          </a:solidFill>
          <a:ln w="12700">
            <a:solidFill>
              <a:srgbClr val="7F77D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560320" y="127101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11480" y="1536192"/>
            <a:ext cx="2103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UX/UI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328416" y="1545336"/>
            <a:ext cx="731520" cy="201168"/>
          </a:xfrm>
          <a:prstGeom prst="rect">
            <a:avLst/>
          </a:prstGeom>
          <a:solidFill>
            <a:srgbClr val="B4B2A9"/>
          </a:solidFill>
          <a:ln w="12700">
            <a:solidFill>
              <a:srgbClr val="B4B2A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28416" y="154533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11480" y="1810512"/>
            <a:ext cx="2103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328416" y="1819656"/>
            <a:ext cx="731520" cy="201168"/>
          </a:xfrm>
          <a:prstGeom prst="rect">
            <a:avLst/>
          </a:prstGeom>
          <a:solidFill>
            <a:srgbClr val="E24B4A"/>
          </a:solidFill>
          <a:ln w="12700">
            <a:solidFill>
              <a:srgbClr val="E24B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28416" y="181965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11480" y="2084832"/>
            <a:ext cx="2103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CI/CD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328416" y="2093976"/>
            <a:ext cx="731520" cy="201168"/>
          </a:xfrm>
          <a:prstGeom prst="rect">
            <a:avLst/>
          </a:prstGeom>
          <a:solidFill>
            <a:srgbClr val="E24B4A"/>
          </a:solidFill>
          <a:ln w="12700">
            <a:solidFill>
              <a:srgbClr val="E24B4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28416" y="209397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FRL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11480" y="2359152"/>
            <a:ext cx="2103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Auth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096512" y="2368296"/>
            <a:ext cx="731520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096512" y="236829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11480" y="2633472"/>
            <a:ext cx="2103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Catalogue &amp; BDD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864608" y="2642616"/>
            <a:ext cx="731520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64608" y="264261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11480" y="2907792"/>
            <a:ext cx="2103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Dépôt &amp; Scan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864608" y="2916936"/>
            <a:ext cx="731520" cy="201168"/>
          </a:xfrm>
          <a:prstGeom prst="rect">
            <a:avLst/>
          </a:prstGeom>
          <a:solidFill>
            <a:srgbClr val="378ADD"/>
          </a:solidFill>
          <a:ln w="12700">
            <a:solidFill>
              <a:srgbClr val="378AD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64608" y="291693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411480" y="3182112"/>
            <a:ext cx="2103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Achat 1 €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632704" y="3191256"/>
            <a:ext cx="731520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632704" y="319125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411480" y="3456432"/>
            <a:ext cx="2103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Messagerie RDV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400800" y="3465576"/>
            <a:ext cx="731520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0800" y="346557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411480" y="3730752"/>
            <a:ext cx="2103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 (Freelance)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6400800" y="3739896"/>
            <a:ext cx="731520" cy="201168"/>
          </a:xfrm>
          <a:prstGeom prst="rect">
            <a:avLst/>
          </a:prstGeom>
          <a:solidFill>
            <a:srgbClr val="E24B4A"/>
          </a:solidFill>
          <a:ln w="12700">
            <a:solidFill>
              <a:srgbClr val="E24B4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00800" y="373989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FRL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11480" y="4005072"/>
            <a:ext cx="2103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&amp; Recette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6400800" y="4014216"/>
            <a:ext cx="1499616" cy="201168"/>
          </a:xfrm>
          <a:prstGeom prst="rect">
            <a:avLst/>
          </a:prstGeom>
          <a:solidFill>
            <a:srgbClr val="D4537E"/>
          </a:solidFill>
          <a:ln w="12700">
            <a:solidFill>
              <a:srgbClr val="D4537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00800" y="4014216"/>
            <a:ext cx="1499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11480" y="4279392"/>
            <a:ext cx="2103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 &amp; Prod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7936992" y="4288536"/>
            <a:ext cx="731520" cy="201168"/>
          </a:xfrm>
          <a:prstGeom prst="rect">
            <a:avLst/>
          </a:prstGeom>
          <a:solidFill>
            <a:srgbClr val="378ADD"/>
          </a:solidFill>
          <a:ln w="12700">
            <a:solidFill>
              <a:srgbClr val="378AD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936992" y="428853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411480" y="4572000"/>
            <a:ext cx="228600" cy="128016"/>
          </a:xfrm>
          <a:prstGeom prst="rect">
            <a:avLst/>
          </a:prstGeom>
          <a:solidFill>
            <a:srgbClr val="E24B4A"/>
          </a:solidFill>
          <a:ln w="12700">
            <a:solidFill>
              <a:srgbClr val="E24B4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5800" y="4553712"/>
            <a:ext cx="1828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Chemin critique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2560320" y="4572000"/>
            <a:ext cx="228600" cy="128016"/>
          </a:xfrm>
          <a:prstGeom prst="rect">
            <a:avLst/>
          </a:prstGeom>
          <a:solidFill>
            <a:srgbClr val="CADCFC"/>
          </a:solidFill>
          <a:ln w="12700">
            <a:solidFill>
              <a:srgbClr val="378AD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834640" y="4553712"/>
            <a:ext cx="1828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 non-critique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0" y="4892040"/>
            <a:ext cx="9144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Book One MVP — Pilotage RH par les coûts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Global — Postes de Coût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11480" y="749808"/>
            <a:ext cx="8321040" cy="22860"/>
          </a:xfrm>
          <a:prstGeom prst="rect">
            <a:avLst/>
          </a:prstGeom>
          <a:solidFill>
            <a:srgbClr val="D1D9F0"/>
          </a:solidFill>
          <a:ln w="12700">
            <a:solidFill>
              <a:srgbClr val="D1D9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617720" y="1737360"/>
            <a:ext cx="91440" cy="64008"/>
          </a:xfrm>
          <a:prstGeom prst="rect">
            <a:avLst/>
          </a:prstGeom>
          <a:solidFill>
            <a:srgbClr val="378ADD"/>
          </a:solidFill>
          <a:ln w="12700">
            <a:solidFill>
              <a:srgbClr val="378AD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617720" y="2212848"/>
            <a:ext cx="91440" cy="64008"/>
          </a:xfrm>
          <a:prstGeom prst="rect">
            <a:avLst/>
          </a:prstGeom>
          <a:solidFill>
            <a:srgbClr val="378ADD"/>
          </a:solidFill>
          <a:ln w="12700">
            <a:solidFill>
              <a:srgbClr val="378AD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617720" y="2688336"/>
            <a:ext cx="91440" cy="64008"/>
          </a:xfrm>
          <a:prstGeom prst="rect">
            <a:avLst/>
          </a:prstGeom>
          <a:solidFill>
            <a:srgbClr val="378ADD"/>
          </a:solidFill>
          <a:ln w="12700">
            <a:solidFill>
              <a:srgbClr val="378AD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617720" y="3163824"/>
            <a:ext cx="91440" cy="64008"/>
          </a:xfrm>
          <a:prstGeom prst="rect">
            <a:avLst/>
          </a:prstGeom>
          <a:solidFill>
            <a:srgbClr val="378ADD"/>
          </a:solidFill>
          <a:ln w="12700">
            <a:solidFill>
              <a:srgbClr val="378ADD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0" y="4892040"/>
            <a:ext cx="9144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Book One MVP — Pilotage RH par les coûts</a:t>
            </a:r>
            <a:endParaRPr lang="en-US" sz="850" dirty="0"/>
          </a:p>
        </p:txBody>
      </p:sp>
      <p:pic>
        <p:nvPicPr>
          <p:cNvPr id="37" name="Image 36">
            <a:extLst>
              <a:ext uri="{FF2B5EF4-FFF2-40B4-BE49-F238E27FC236}">
                <a16:creationId xmlns:a16="http://schemas.microsoft.com/office/drawing/2014/main" id="{A7490947-CDC5-8314-3416-2D1840D8579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6800"/>
          <a:stretch>
            <a:fillRect/>
          </a:stretch>
        </p:blipFill>
        <p:spPr>
          <a:xfrm>
            <a:off x="343953" y="854801"/>
            <a:ext cx="3792655" cy="2453749"/>
          </a:xfrm>
          <a:prstGeom prst="rect">
            <a:avLst/>
          </a:prstGeom>
        </p:spPr>
      </p:pic>
      <p:pic>
        <p:nvPicPr>
          <p:cNvPr id="39" name="Image 38">
            <a:extLst>
              <a:ext uri="{FF2B5EF4-FFF2-40B4-BE49-F238E27FC236}">
                <a16:creationId xmlns:a16="http://schemas.microsoft.com/office/drawing/2014/main" id="{26780C8B-3340-FCE2-56AD-0F4179832C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245" y="935654"/>
            <a:ext cx="4324802" cy="379339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Risques Projet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11480" y="749808"/>
            <a:ext cx="8321040" cy="22860"/>
          </a:xfrm>
          <a:prstGeom prst="rect">
            <a:avLst/>
          </a:prstGeom>
          <a:solidFill>
            <a:srgbClr val="D1D9F0"/>
          </a:solidFill>
          <a:ln w="12700">
            <a:solidFill>
              <a:srgbClr val="D1D9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70248" y="91440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Détail des risques — Provisions &amp; Stratégies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297680" y="4572000"/>
            <a:ext cx="4315968" cy="256032"/>
          </a:xfrm>
          <a:prstGeom prst="rect">
            <a:avLst/>
          </a:prstGeom>
          <a:solidFill>
            <a:srgbClr val="EFF3FF"/>
          </a:solidFill>
          <a:ln w="8890">
            <a:solidFill>
              <a:srgbClr val="1E276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0" y="4892040"/>
            <a:ext cx="9144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Book One MVP — Pilotage RH par les coûts</a:t>
            </a:r>
            <a:endParaRPr lang="en-US" sz="850" dirty="0"/>
          </a:p>
        </p:txBody>
      </p:sp>
      <p:pic>
        <p:nvPicPr>
          <p:cNvPr id="53" name="Image 52">
            <a:extLst>
              <a:ext uri="{FF2B5EF4-FFF2-40B4-BE49-F238E27FC236}">
                <a16:creationId xmlns:a16="http://schemas.microsoft.com/office/drawing/2014/main" id="{666B768C-2114-5E07-F8EE-42F1DC4406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7452" y="1188720"/>
            <a:ext cx="3736196" cy="3115744"/>
          </a:xfrm>
          <a:prstGeom prst="rect">
            <a:avLst/>
          </a:prstGeom>
        </p:spPr>
      </p:pic>
      <p:pic>
        <p:nvPicPr>
          <p:cNvPr id="55" name="Image 54">
            <a:extLst>
              <a:ext uri="{FF2B5EF4-FFF2-40B4-BE49-F238E27FC236}">
                <a16:creationId xmlns:a16="http://schemas.microsoft.com/office/drawing/2014/main" id="{DE8BA88B-2CF5-2F9A-3F2F-602E5EE841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" y="1188720"/>
            <a:ext cx="3810805" cy="32446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6629BA-4DCD-7731-09C8-6F14E0E0D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2C0F7FD-E484-7894-CA5B-F5561371E0E9}"/>
              </a:ext>
            </a:extLst>
          </p:cNvPr>
          <p:cNvSpPr/>
          <p:nvPr/>
        </p:nvSpPr>
        <p:spPr>
          <a:xfrm>
            <a:off x="411480" y="22860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Leviers </a:t>
            </a:r>
            <a:r>
              <a:rPr lang="en-US" sz="260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d’oiptimisation</a:t>
            </a:r>
            <a:endParaRPr lang="en-US" sz="2600" b="1" dirty="0">
              <a:solidFill>
                <a:srgbClr val="1E276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AC517A6-AF7A-6F13-C01E-973D6AFC43B3}"/>
              </a:ext>
            </a:extLst>
          </p:cNvPr>
          <p:cNvSpPr/>
          <p:nvPr/>
        </p:nvSpPr>
        <p:spPr>
          <a:xfrm>
            <a:off x="411480" y="749808"/>
            <a:ext cx="8321040" cy="22860"/>
          </a:xfrm>
          <a:prstGeom prst="rect">
            <a:avLst/>
          </a:prstGeom>
          <a:solidFill>
            <a:srgbClr val="D1D9F0"/>
          </a:solidFill>
          <a:ln w="12700">
            <a:solidFill>
              <a:srgbClr val="D1D9F0"/>
            </a:solidFill>
            <a:prstDash val="solid"/>
          </a:ln>
        </p:spPr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333DC4F3-7998-BB04-B49B-AA2714E90505}"/>
              </a:ext>
            </a:extLst>
          </p:cNvPr>
          <p:cNvSpPr/>
          <p:nvPr/>
        </p:nvSpPr>
        <p:spPr>
          <a:xfrm>
            <a:off x="4270248" y="91440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Détail des risques — Provisions &amp; Stratégies</a:t>
            </a:r>
            <a:endParaRPr lang="en-US" sz="1000" dirty="0"/>
          </a:p>
        </p:txBody>
      </p:sp>
      <p:sp>
        <p:nvSpPr>
          <p:cNvPr id="49" name="Shape 47">
            <a:extLst>
              <a:ext uri="{FF2B5EF4-FFF2-40B4-BE49-F238E27FC236}">
                <a16:creationId xmlns:a16="http://schemas.microsoft.com/office/drawing/2014/main" id="{F9AF9E7F-C6C0-5F57-E86F-BF45C7F11DF0}"/>
              </a:ext>
            </a:extLst>
          </p:cNvPr>
          <p:cNvSpPr/>
          <p:nvPr/>
        </p:nvSpPr>
        <p:spPr>
          <a:xfrm>
            <a:off x="4297680" y="4572000"/>
            <a:ext cx="4315968" cy="256032"/>
          </a:xfrm>
          <a:prstGeom prst="rect">
            <a:avLst/>
          </a:prstGeom>
          <a:solidFill>
            <a:srgbClr val="EFF3FF"/>
          </a:solidFill>
          <a:ln w="8890">
            <a:solidFill>
              <a:srgbClr val="1E2761"/>
            </a:solidFill>
            <a:prstDash val="solid"/>
          </a:ln>
        </p:spPr>
      </p:sp>
      <p:sp>
        <p:nvSpPr>
          <p:cNvPr id="51" name="Text 49">
            <a:extLst>
              <a:ext uri="{FF2B5EF4-FFF2-40B4-BE49-F238E27FC236}">
                <a16:creationId xmlns:a16="http://schemas.microsoft.com/office/drawing/2014/main" id="{CF549A1F-9700-9A1B-F31D-B8FE107FBD2E}"/>
              </a:ext>
            </a:extLst>
          </p:cNvPr>
          <p:cNvSpPr/>
          <p:nvPr/>
        </p:nvSpPr>
        <p:spPr>
          <a:xfrm>
            <a:off x="0" y="4892040"/>
            <a:ext cx="9144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Book One MVP — Pilotage RH par les coûts</a:t>
            </a:r>
            <a:endParaRPr lang="en-US" sz="850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F11AEB36-81F3-9E5B-CE91-96311882CC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450" y="1090969"/>
            <a:ext cx="7118350" cy="3302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57620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Direction Financière — Jalons S4 &amp; S8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11480" y="749808"/>
            <a:ext cx="8321040" cy="22860"/>
          </a:xfrm>
          <a:prstGeom prst="rect">
            <a:avLst/>
          </a:prstGeom>
          <a:solidFill>
            <a:srgbClr val="D1D9F0"/>
          </a:solidFill>
          <a:ln w="12700">
            <a:solidFill>
              <a:srgbClr val="D1D9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1480" y="914400"/>
            <a:ext cx="13258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1D9E75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914400"/>
            <a:ext cx="1325880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024128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11480" y="1408176"/>
            <a:ext cx="1325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d'achèvement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411480" y="1609344"/>
            <a:ext cx="1325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24/24 tâches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810512" y="914400"/>
            <a:ext cx="13258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810512" y="914400"/>
            <a:ext cx="1325880" cy="640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10512" y="1024128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31 590 €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810512" y="1408176"/>
            <a:ext cx="1325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planifié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810512" y="1609344"/>
            <a:ext cx="1325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au jalon S8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209544" y="914400"/>
            <a:ext cx="13258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4B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09544" y="914400"/>
            <a:ext cx="1325880" cy="64008"/>
          </a:xfrm>
          <a:prstGeom prst="rect">
            <a:avLst/>
          </a:prstGeom>
          <a:solidFill>
            <a:srgbClr val="E24B4A"/>
          </a:solidFill>
          <a:ln w="12700">
            <a:solidFill>
              <a:srgbClr val="E24B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09544" y="1024128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24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33 422 €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209544" y="1408176"/>
            <a:ext cx="1325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réel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209544" y="1609344"/>
            <a:ext cx="1325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+5.8% vs plan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608576" y="914400"/>
            <a:ext cx="13258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378AD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08576" y="914400"/>
            <a:ext cx="1325880" cy="64008"/>
          </a:xfrm>
          <a:prstGeom prst="rect">
            <a:avLst/>
          </a:prstGeom>
          <a:solidFill>
            <a:srgbClr val="378ADD"/>
          </a:solidFill>
          <a:ln w="12700">
            <a:solidFill>
              <a:srgbClr val="378A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08576" y="1024128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78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25.7%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608576" y="1408176"/>
            <a:ext cx="1325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consommé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608576" y="1609344"/>
            <a:ext cx="1325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/ 130 000 €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007608" y="914400"/>
            <a:ext cx="13258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BA751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07608" y="914400"/>
            <a:ext cx="1325880" cy="64008"/>
          </a:xfrm>
          <a:prstGeom prst="rect">
            <a:avLst/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007608" y="1024128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4 000 €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007608" y="1408176"/>
            <a:ext cx="1325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Coûts non-planifiés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007608" y="1609344"/>
            <a:ext cx="1325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Risques S8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7406640" y="914400"/>
            <a:ext cx="13258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1D9E75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406640" y="914400"/>
            <a:ext cx="1325880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06640" y="1024128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96 578 €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406640" y="1408176"/>
            <a:ext cx="1325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disponible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7406640" y="1609344"/>
            <a:ext cx="1325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Budget restant</a:t>
            </a:r>
            <a:endParaRPr lang="en-US" sz="800" dirty="0"/>
          </a:p>
        </p:txBody>
      </p:sp>
      <p:graphicFrame>
        <p:nvGraphicFramePr>
          <p:cNvPr id="34" name="Chart 0"/>
          <p:cNvGraphicFramePr/>
          <p:nvPr/>
        </p:nvGraphicFramePr>
        <p:xfrm>
          <a:off x="411480" y="2011680"/>
          <a:ext cx="5303520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5" name="Shape 32"/>
          <p:cNvSpPr/>
          <p:nvPr/>
        </p:nvSpPr>
        <p:spPr>
          <a:xfrm>
            <a:off x="5897880" y="2011680"/>
            <a:ext cx="2834640" cy="2834640"/>
          </a:xfrm>
          <a:prstGeom prst="rect">
            <a:avLst/>
          </a:prstGeom>
          <a:solidFill>
            <a:srgbClr val="FFFFFF"/>
          </a:solidFill>
          <a:ln w="6350">
            <a:solidFill>
              <a:srgbClr val="D1D9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5897880" y="2011680"/>
            <a:ext cx="2834640" cy="274320"/>
          </a:xfrm>
          <a:prstGeom prst="rect">
            <a:avLst/>
          </a:prstGeom>
          <a:solidFill>
            <a:srgbClr val="E24B4A"/>
          </a:solidFill>
          <a:ln w="12700">
            <a:solidFill>
              <a:srgbClr val="E24B4A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897880" y="20116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Risques survenus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5989320" y="2377440"/>
            <a:ext cx="54864" cy="411480"/>
          </a:xfrm>
          <a:prstGeom prst="rect">
            <a:avLst/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126480" y="2377440"/>
            <a:ext cx="24688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RS1 — API ISBN — limite de taux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6126480" y="2578608"/>
            <a:ext cx="2468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S4 · Moyen · 450 €</a:t>
            </a:r>
            <a:endParaRPr lang="en-US" sz="850" dirty="0"/>
          </a:p>
        </p:txBody>
      </p:sp>
      <p:sp>
        <p:nvSpPr>
          <p:cNvPr id="41" name="Shape 38"/>
          <p:cNvSpPr/>
          <p:nvPr/>
        </p:nvSpPr>
        <p:spPr>
          <a:xfrm>
            <a:off x="5989320" y="2953512"/>
            <a:ext cx="54864" cy="41148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6126480" y="2953512"/>
            <a:ext cx="24688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RS2 — DPO — recomm. stockage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6126480" y="3154680"/>
            <a:ext cx="2468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S4 · Faible · 200 €</a:t>
            </a:r>
            <a:endParaRPr lang="en-US" sz="850" dirty="0"/>
          </a:p>
        </p:txBody>
      </p:sp>
      <p:sp>
        <p:nvSpPr>
          <p:cNvPr id="44" name="Shape 41"/>
          <p:cNvSpPr/>
          <p:nvPr/>
        </p:nvSpPr>
        <p:spPr>
          <a:xfrm>
            <a:off x="5989320" y="3529584"/>
            <a:ext cx="54864" cy="411480"/>
          </a:xfrm>
          <a:prstGeom prst="rect">
            <a:avLst/>
          </a:prstGeom>
          <a:solidFill>
            <a:srgbClr val="E24B4A"/>
          </a:solidFill>
          <a:ln w="12700">
            <a:solidFill>
              <a:srgbClr val="E24B4A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126480" y="3529584"/>
            <a:ext cx="24688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RS3 — Stripe — délai validation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6126480" y="3730752"/>
            <a:ext cx="2468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S8 · Élevé · 1 200 €</a:t>
            </a:r>
            <a:endParaRPr lang="en-US" sz="850" dirty="0"/>
          </a:p>
        </p:txBody>
      </p:sp>
      <p:sp>
        <p:nvSpPr>
          <p:cNvPr id="47" name="Shape 44"/>
          <p:cNvSpPr/>
          <p:nvPr/>
        </p:nvSpPr>
        <p:spPr>
          <a:xfrm>
            <a:off x="5989320" y="4105656"/>
            <a:ext cx="54864" cy="411480"/>
          </a:xfrm>
          <a:prstGeom prst="rect">
            <a:avLst/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6126480" y="4105656"/>
            <a:ext cx="24688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RS4 — Dérive charge Dev Mobile</a:t>
            </a:r>
            <a:endParaRPr lang="en-US" sz="950" dirty="0"/>
          </a:p>
        </p:txBody>
      </p:sp>
      <p:sp>
        <p:nvSpPr>
          <p:cNvPr id="49" name="Text 46"/>
          <p:cNvSpPr/>
          <p:nvPr/>
        </p:nvSpPr>
        <p:spPr>
          <a:xfrm>
            <a:off x="6126480" y="4306824"/>
            <a:ext cx="2468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S8 · Moyen · 2 800 €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0" y="4892040"/>
            <a:ext cx="9144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Book One MVP — Pilotage RH par les coûts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&amp; Projection Financière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11480" y="749808"/>
            <a:ext cx="8321040" cy="22860"/>
          </a:xfrm>
          <a:prstGeom prst="rect">
            <a:avLst/>
          </a:prstGeom>
          <a:solidFill>
            <a:srgbClr val="D1D9F0"/>
          </a:solidFill>
          <a:ln w="12700">
            <a:solidFill>
              <a:srgbClr val="D1D9F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897880" y="914400"/>
            <a:ext cx="28346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897880" y="914400"/>
            <a:ext cx="73152" cy="5303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53328" y="950976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130 000 €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053328" y="1207008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Investissement total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897880" y="1508760"/>
            <a:ext cx="28346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378AD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897880" y="1508760"/>
            <a:ext cx="73152" cy="530352"/>
          </a:xfrm>
          <a:prstGeom prst="rect">
            <a:avLst/>
          </a:prstGeom>
          <a:solidFill>
            <a:srgbClr val="378ADD"/>
          </a:solidFill>
          <a:ln w="12700">
            <a:solidFill>
              <a:srgbClr val="378AD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53328" y="1545336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78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180 000 €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053328" y="1801368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CA prévisionnel (12M)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897880" y="2103120"/>
            <a:ext cx="28346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1D9E75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5897880" y="2103120"/>
            <a:ext cx="73152" cy="5303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053328" y="2139696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M11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053328" y="2395728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Break-even estimé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897880" y="2697480"/>
            <a:ext cx="28346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1D9E75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897880" y="2697480"/>
            <a:ext cx="73152" cy="5303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053328" y="2734056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+38%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053328" y="2990088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ROI à 24 mois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897880" y="3291840"/>
            <a:ext cx="28346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BA751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897880" y="3291840"/>
            <a:ext cx="73152" cy="530352"/>
          </a:xfrm>
          <a:prstGeom prst="rect">
            <a:avLst/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053328" y="3328416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1 €/livre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6053328" y="3584448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Panier moyen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897880" y="3886200"/>
            <a:ext cx="28346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7F77D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5897880" y="3886200"/>
            <a:ext cx="73152" cy="530352"/>
          </a:xfrm>
          <a:prstGeom prst="rect">
            <a:avLst/>
          </a:prstGeom>
          <a:solidFill>
            <a:srgbClr val="7F77DD"/>
          </a:solidFill>
          <a:ln w="12700">
            <a:solidFill>
              <a:srgbClr val="7F77DD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053328" y="3922776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F7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Stripe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6053328" y="4178808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Modèle Freemium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411480" y="397764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Hypothèses : 500 utilisateurs actifs à M3, croissance 20%/mois jusqu'à M8, plateau à 25 000 €/mois à M12. Modèle : commission Stripe 1.4% + 0.25 € par transaction.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0" y="4892040"/>
            <a:ext cx="9144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Book One MVP — Pilotage RH par les coûts</a:t>
            </a:r>
            <a:endParaRPr lang="en-US" sz="850" dirty="0"/>
          </a:p>
        </p:txBody>
      </p:sp>
      <p:pic>
        <p:nvPicPr>
          <p:cNvPr id="32" name="Image 31">
            <a:extLst>
              <a:ext uri="{FF2B5EF4-FFF2-40B4-BE49-F238E27FC236}">
                <a16:creationId xmlns:a16="http://schemas.microsoft.com/office/drawing/2014/main" id="{669C707D-324A-00D5-9094-244D9D3D87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817" y="1405128"/>
            <a:ext cx="5698178" cy="211668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0" y="0"/>
            <a:ext cx="2926080" cy="5143500"/>
          </a:xfrm>
          <a:prstGeom prst="rect">
            <a:avLst/>
          </a:prstGeom>
          <a:solidFill>
            <a:srgbClr val="162050"/>
          </a:solidFill>
          <a:ln w="12700">
            <a:solidFill>
              <a:srgbClr val="16205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35040" y="0"/>
            <a:ext cx="109728" cy="514350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73152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LIVRE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02920" y="1188720"/>
            <a:ext cx="5303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Synthèse &amp; Prochaines Étapes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502920" y="2029968"/>
            <a:ext cx="2286000" cy="36576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2185416"/>
            <a:ext cx="256032" cy="256032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21854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68680" y="2148840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livré en 8 semaines — 100% des tâches planifiées réalisées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642616"/>
            <a:ext cx="256032" cy="256032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6426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68680" y="2606040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Écart budgétaire maîtrisé : +5.8% — 1 832 € de dépassement sur 33 422 €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099816"/>
            <a:ext cx="256032" cy="256032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30998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8680" y="3063240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risques identifiés — 2 en cours de résolution (Stripe, charge Dev Mobile)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3557016"/>
            <a:ext cx="256032" cy="256032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3557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68680" y="3520440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restant disponible : 96 578 € pour Phase 2 (scale &amp; acquisition)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0" y="1371600"/>
            <a:ext cx="2286000" cy="822960"/>
          </a:xfrm>
          <a:prstGeom prst="rect">
            <a:avLst/>
          </a:prstGeom>
          <a:solidFill>
            <a:srgbClr val="1A2F6E"/>
          </a:solidFill>
          <a:ln w="10160">
            <a:solidFill>
              <a:srgbClr val="CADC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46520" y="144475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Scale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46520" y="17830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Campagne d'acquisition &amp; onboarding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400800" y="2377440"/>
            <a:ext cx="2286000" cy="822960"/>
          </a:xfrm>
          <a:prstGeom prst="rect">
            <a:avLst/>
          </a:prstGeom>
          <a:solidFill>
            <a:srgbClr val="1A2F6E"/>
          </a:solidFill>
          <a:ln w="10160">
            <a:solidFill>
              <a:srgbClr val="CADC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245059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V2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46520" y="27889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Recommandations IA + abonnement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400800" y="3383280"/>
            <a:ext cx="2286000" cy="822960"/>
          </a:xfrm>
          <a:prstGeom prst="rect">
            <a:avLst/>
          </a:prstGeom>
          <a:solidFill>
            <a:srgbClr val="1A2F6E"/>
          </a:solidFill>
          <a:ln w="10160">
            <a:solidFill>
              <a:srgbClr val="CADC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46520" y="345643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Levée de fonds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46520" y="37947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Seed round — Q3 2025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0" y="4892040"/>
            <a:ext cx="9144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Confidentiel — Book One · Mai 2026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952</Words>
  <Application>Microsoft Office PowerPoint</Application>
  <PresentationFormat>Affichage à l'écran (16:9)</PresentationFormat>
  <Paragraphs>297</Paragraphs>
  <Slides>12</Slides>
  <Notes>12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Book One MVP — Présentation de pilotage</dc:title>
  <dc:subject>PptxGenJS Presentation</dc:subject>
  <dc:creator>Book One — Pilotage RH par les coûts</dc:creator>
  <cp:lastModifiedBy>Jean-Corentin Loirat</cp:lastModifiedBy>
  <cp:revision>3</cp:revision>
  <dcterms:created xsi:type="dcterms:W3CDTF">2026-05-05T14:19:24Z</dcterms:created>
  <dcterms:modified xsi:type="dcterms:W3CDTF">2026-05-05T14:41:23Z</dcterms:modified>
</cp:coreProperties>
</file>