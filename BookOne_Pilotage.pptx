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761"/>
                </a:solidFill>
                <a:latin typeface="Arial"/>
              </a:rPr>
              <a:t>Coûts cumulés — Planifié vs Réel (EUR)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Planifié cumulé</c:v>
                </c:pt>
              </c:strCache>
            </c:strRef>
          </c:tx>
          <c:spPr>
            <a:solidFill>
              <a:srgbClr val="1E2761"/>
            </a:solidFill>
            <a:ln w="3175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S1</c:v>
                  </c:pt>
                  <c:pt idx="1">
                    <c:v>S2</c:v>
                  </c:pt>
                  <c:pt idx="2">
                    <c:v>S3</c:v>
                  </c:pt>
                  <c:pt idx="3">
                    <c:v>S4</c:v>
                  </c:pt>
                  <c:pt idx="4">
                    <c:v>S5</c:v>
                  </c:pt>
                  <c:pt idx="5">
                    <c:v>S6</c:v>
                  </c:pt>
                  <c:pt idx="6">
                    <c:v>S7</c:v>
                  </c:pt>
                  <c:pt idx="7">
                    <c:v>S8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4000</c:v>
                </c:pt>
                <c:pt idx="1">
                  <c:v>8500</c:v>
                </c:pt>
                <c:pt idx="2">
                  <c:v>14200</c:v>
                </c:pt>
                <c:pt idx="3">
                  <c:v>20100</c:v>
                </c:pt>
                <c:pt idx="4">
                  <c:v>24500</c:v>
                </c:pt>
                <c:pt idx="5">
                  <c:v>27800</c:v>
                </c:pt>
                <c:pt idx="6">
                  <c:v>30200</c:v>
                </c:pt>
                <c:pt idx="7">
                  <c:v>31590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Réel cumulé</c:v>
                </c:pt>
              </c:strCache>
            </c:strRef>
          </c:tx>
          <c:spPr>
            <a:solidFill>
              <a:srgbClr val="E24B4A"/>
            </a:solidFill>
            <a:ln w="31750" cap="flat">
              <a:solidFill>
                <a:srgbClr val="E24B4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24B4A"/>
              </a:solidFill>
              <a:ln w="9525" cap="flat">
                <a:solidFill>
                  <a:srgbClr val="E24B4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S1</c:v>
                  </c:pt>
                  <c:pt idx="1">
                    <c:v>S2</c:v>
                  </c:pt>
                  <c:pt idx="2">
                    <c:v>S3</c:v>
                  </c:pt>
                  <c:pt idx="3">
                    <c:v>S4</c:v>
                  </c:pt>
                  <c:pt idx="4">
                    <c:v>S5</c:v>
                  </c:pt>
                  <c:pt idx="5">
                    <c:v>S6</c:v>
                  </c:pt>
                  <c:pt idx="6">
                    <c:v>S7</c:v>
                  </c:pt>
                  <c:pt idx="7">
                    <c:v>S8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3800</c:v>
                </c:pt>
                <c:pt idx="1">
                  <c:v>8200</c:v>
                </c:pt>
                <c:pt idx="2">
                  <c:v>14600</c:v>
                </c:pt>
                <c:pt idx="3">
                  <c:v>21000</c:v>
                </c:pt>
                <c:pt idx="4">
                  <c:v>25800</c:v>
                </c:pt>
                <c:pt idx="5">
                  <c:v>29500</c:v>
                </c:pt>
                <c:pt idx="6">
                  <c:v>32000</c:v>
                </c:pt>
                <c:pt idx="7">
                  <c:v>33422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761"/>
                </a:solidFill>
                <a:latin typeface="Arial"/>
              </a:rPr>
              <a:t>Répartition hors-RH (7 200 €)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Postes hors-RH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78ADD"/>
              </a:solidFill>
              <a:effectLst/>
            </c:spPr>
          </c:dPt>
          <c:dPt>
            <c:idx val="1"/>
            <c:bubble3D val="0"/>
            <c:spPr>
              <a:solidFill>
                <a:srgbClr val="BA7517"/>
              </a:solidFill>
              <a:effectLst/>
            </c:spPr>
          </c:dPt>
          <c:dPt>
            <c:idx val="2"/>
            <c:bubble3D val="0"/>
            <c:spPr>
              <a:solidFill>
                <a:srgbClr val="D4537E"/>
              </a:solidFill>
              <a:effectLst/>
            </c:spPr>
          </c:dPt>
          <c:dPt>
            <c:idx val="3"/>
            <c:bubble3D val="0"/>
            <c:spPr>
              <a:solidFill>
                <a:srgbClr val="7F77DD"/>
              </a:solidFill>
              <a:effectLst/>
            </c:spPr>
          </c:dPt>
          <c:dPt>
            <c:idx val="4"/>
            <c:bubble3D val="0"/>
            <c:spPr>
              <a:solidFill>
                <a:srgbClr val="1D9E75"/>
              </a:solidFill>
              <a:effectLst/>
            </c:spPr>
          </c:dPt>
          <c:dPt>
            <c:idx val="5"/>
            <c:bubble3D val="0"/>
            <c:spPr>
              <a:solidFill>
                <a:srgbClr val="64748B"/>
              </a:solidFill>
              <a:effectLst/>
            </c:spPr>
          </c:dPt>
          <c:dPt>
            <c:idx val="6"/>
            <c:bubble3D val="0"/>
            <c:spPr>
              <a:solidFill>
                <a:srgbClr val="E24B4A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Sheet1!$A$2:$A$8</c:f>
              <c:strCache>
                <c:ptCount val="7"/>
                <c:pt idx="0">
                  <c:v>Infra &amp; Cloud</c:v>
                </c:pt>
                <c:pt idx="1">
                  <c:v>Données &amp; APIs</c:v>
                </c:pt>
                <c:pt idx="2">
                  <c:v>Qualité &amp; Tests</c:v>
                </c:pt>
                <c:pt idx="3">
                  <c:v>Légal &amp; Conformité</c:v>
                </c:pt>
                <c:pt idx="4">
                  <c:v>Licences</c:v>
                </c:pt>
                <c:pt idx="5">
                  <c:v>Opérationnel</c:v>
                </c:pt>
                <c:pt idx="6">
                  <c:v>Coûts cachés</c:v>
                </c:pt>
              </c:strCache>
            </c:strRef>
          </c:cat>
          <c:val>
            <c:numRef>
              <c:f>Sheet1!$B$2:$B$8</c:f>
              <c:numCache>
                <c:ptCount val="7"/>
                <c:pt idx="0">
                  <c:v>1800</c:v>
                </c:pt>
                <c:pt idx="1">
                  <c:v>1800</c:v>
                </c:pt>
                <c:pt idx="2">
                  <c:v>800</c:v>
                </c:pt>
                <c:pt idx="3">
                  <c:v>1100</c:v>
                </c:pt>
                <c:pt idx="4">
                  <c:v>470</c:v>
                </c:pt>
                <c:pt idx="5">
                  <c:v>900</c:v>
                </c:pt>
                <c:pt idx="6">
                  <c:v>2000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761"/>
                </a:solidFill>
                <a:latin typeface="Arial"/>
              </a:rPr>
              <a:t>Revenus vs Charges mensuels (M1→M24)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Revenus mensuels (€)</c:v>
                </c:pt>
              </c:strCache>
            </c:strRef>
          </c:tx>
          <c:spPr>
            <a:solidFill>
              <a:srgbClr val="378AD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Sheet1!$A$2:$A$25</c:f>
              <c:multiLvlStrCache>
                <c:ptCount val="24"/>
                <c:lvl>
                  <c:pt idx="0">
                    <c:v>M1</c:v>
                  </c:pt>
                  <c:pt idx="1">
                    <c:v>M2</c:v>
                  </c:pt>
                  <c:pt idx="2">
                    <c:v>M3</c:v>
                  </c:pt>
                  <c:pt idx="3">
                    <c:v>M4</c:v>
                  </c:pt>
                  <c:pt idx="4">
                    <c:v>M5</c:v>
                  </c:pt>
                  <c:pt idx="5">
                    <c:v>M6</c:v>
                  </c:pt>
                  <c:pt idx="6">
                    <c:v>M7</c:v>
                  </c:pt>
                  <c:pt idx="7">
                    <c:v>M8</c:v>
                  </c:pt>
                  <c:pt idx="8">
                    <c:v>M9</c:v>
                  </c:pt>
                  <c:pt idx="9">
                    <c:v>M10</c:v>
                  </c:pt>
                  <c:pt idx="10">
                    <c:v>M11</c:v>
                  </c:pt>
                  <c:pt idx="11">
                    <c:v>M12</c:v>
                  </c:pt>
                  <c:pt idx="12">
                    <c:v>M13</c:v>
                  </c:pt>
                  <c:pt idx="13">
                    <c:v>M14</c:v>
                  </c:pt>
                  <c:pt idx="14">
                    <c:v>M15</c:v>
                  </c:pt>
                  <c:pt idx="15">
                    <c:v>M16</c:v>
                  </c:pt>
                  <c:pt idx="16">
                    <c:v>M17</c:v>
                  </c:pt>
                  <c:pt idx="17">
                    <c:v>M18</c:v>
                  </c:pt>
                  <c:pt idx="18">
                    <c:v>M19</c:v>
                  </c:pt>
                  <c:pt idx="19">
                    <c:v>M20</c:v>
                  </c:pt>
                  <c:pt idx="20">
                    <c:v>M21</c:v>
                  </c:pt>
                  <c:pt idx="21">
                    <c:v>M22</c:v>
                  </c:pt>
                  <c:pt idx="22">
                    <c:v>M23</c:v>
                  </c:pt>
                  <c:pt idx="23">
                    <c:v>M24</c:v>
                  </c:pt>
                </c:lvl>
              </c:multiLvlStrCache>
            </c:multiLvl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0</c:v>
                </c:pt>
                <c:pt idx="1">
                  <c:v>0</c:v>
                </c:pt>
                <c:pt idx="2">
                  <c:v>1500</c:v>
                </c:pt>
                <c:pt idx="3">
                  <c:v>3000</c:v>
                </c:pt>
                <c:pt idx="4">
                  <c:v>6000</c:v>
                </c:pt>
                <c:pt idx="5">
                  <c:v>9000</c:v>
                </c:pt>
                <c:pt idx="6">
                  <c:v>12000</c:v>
                </c:pt>
                <c:pt idx="7">
                  <c:v>15000</c:v>
                </c:pt>
                <c:pt idx="8">
                  <c:v>18000</c:v>
                </c:pt>
                <c:pt idx="9">
                  <c:v>20000</c:v>
                </c:pt>
                <c:pt idx="10">
                  <c:v>22000</c:v>
                </c:pt>
                <c:pt idx="11">
                  <c:v>25000</c:v>
                </c:pt>
                <c:pt idx="12">
                  <c:v>25000</c:v>
                </c:pt>
                <c:pt idx="13">
                  <c:v>25000</c:v>
                </c:pt>
                <c:pt idx="14">
                  <c:v>25000</c:v>
                </c:pt>
                <c:pt idx="15">
                  <c:v>25000</c:v>
                </c:pt>
                <c:pt idx="16">
                  <c:v>25000</c:v>
                </c:pt>
                <c:pt idx="17">
                  <c:v>25000</c:v>
                </c:pt>
                <c:pt idx="18">
                  <c:v>25000</c:v>
                </c:pt>
                <c:pt idx="19">
                  <c:v>25000</c:v>
                </c:pt>
                <c:pt idx="20">
                  <c:v>25000</c:v>
                </c:pt>
                <c:pt idx="21">
                  <c:v>25000</c:v>
                </c:pt>
                <c:pt idx="22">
                  <c:v>25000</c:v>
                </c:pt>
                <c:pt idx="23">
                  <c:v>25000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Charges opex (€)</c:v>
                </c:pt>
              </c:strCache>
            </c:strRef>
          </c:tx>
          <c:spPr>
            <a:solidFill>
              <a:srgbClr val="E24B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Sheet1!$A$2:$A$25</c:f>
              <c:multiLvlStrCache>
                <c:ptCount val="24"/>
                <c:lvl>
                  <c:pt idx="0">
                    <c:v>M1</c:v>
                  </c:pt>
                  <c:pt idx="1">
                    <c:v>M2</c:v>
                  </c:pt>
                  <c:pt idx="2">
                    <c:v>M3</c:v>
                  </c:pt>
                  <c:pt idx="3">
                    <c:v>M4</c:v>
                  </c:pt>
                  <c:pt idx="4">
                    <c:v>M5</c:v>
                  </c:pt>
                  <c:pt idx="5">
                    <c:v>M6</c:v>
                  </c:pt>
                  <c:pt idx="6">
                    <c:v>M7</c:v>
                  </c:pt>
                  <c:pt idx="7">
                    <c:v>M8</c:v>
                  </c:pt>
                  <c:pt idx="8">
                    <c:v>M9</c:v>
                  </c:pt>
                  <c:pt idx="9">
                    <c:v>M10</c:v>
                  </c:pt>
                  <c:pt idx="10">
                    <c:v>M11</c:v>
                  </c:pt>
                  <c:pt idx="11">
                    <c:v>M12</c:v>
                  </c:pt>
                  <c:pt idx="12">
                    <c:v>M13</c:v>
                  </c:pt>
                  <c:pt idx="13">
                    <c:v>M14</c:v>
                  </c:pt>
                  <c:pt idx="14">
                    <c:v>M15</c:v>
                  </c:pt>
                  <c:pt idx="15">
                    <c:v>M16</c:v>
                  </c:pt>
                  <c:pt idx="16">
                    <c:v>M17</c:v>
                  </c:pt>
                  <c:pt idx="17">
                    <c:v>M18</c:v>
                  </c:pt>
                  <c:pt idx="18">
                    <c:v>M19</c:v>
                  </c:pt>
                  <c:pt idx="19">
                    <c:v>M20</c:v>
                  </c:pt>
                  <c:pt idx="20">
                    <c:v>M21</c:v>
                  </c:pt>
                  <c:pt idx="21">
                    <c:v>M22</c:v>
                  </c:pt>
                  <c:pt idx="22">
                    <c:v>M23</c:v>
                  </c:pt>
                  <c:pt idx="23">
                    <c:v>M24</c:v>
                  </c:pt>
                </c:lvl>
              </c:multiLvlStrCache>
            </c:multiLvl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0</c:v>
                </c:pt>
                <c:pt idx="1">
                  <c:v>0</c:v>
                </c:pt>
                <c:pt idx="2">
                  <c:v>1200</c:v>
                </c:pt>
                <c:pt idx="3">
                  <c:v>1200</c:v>
                </c:pt>
                <c:pt idx="4">
                  <c:v>1200</c:v>
                </c:pt>
                <c:pt idx="5">
                  <c:v>1200</c:v>
                </c:pt>
                <c:pt idx="6">
                  <c:v>1200</c:v>
                </c:pt>
                <c:pt idx="7">
                  <c:v>1200</c:v>
                </c:pt>
                <c:pt idx="8">
                  <c:v>1200</c:v>
                </c:pt>
                <c:pt idx="9">
                  <c:v>1200</c:v>
                </c:pt>
                <c:pt idx="10">
                  <c:v>1200</c:v>
                </c:pt>
                <c:pt idx="11">
                  <c:v>1200</c:v>
                </c:pt>
                <c:pt idx="12">
                  <c:v>1200</c:v>
                </c:pt>
                <c:pt idx="13">
                  <c:v>1200</c:v>
                </c:pt>
                <c:pt idx="14">
                  <c:v>1200</c:v>
                </c:pt>
                <c:pt idx="15">
                  <c:v>1200</c:v>
                </c:pt>
                <c:pt idx="16">
                  <c:v>1200</c:v>
                </c:pt>
                <c:pt idx="17">
                  <c:v>1200</c:v>
                </c:pt>
                <c:pt idx="18">
                  <c:v>1200</c:v>
                </c:pt>
                <c:pt idx="19">
                  <c:v>1200</c:v>
                </c:pt>
                <c:pt idx="20">
                  <c:v>1200</c:v>
                </c:pt>
                <c:pt idx="21">
                  <c:v>1200</c:v>
                </c:pt>
                <c:pt idx="22">
                  <c:v>1200</c:v>
                </c:pt>
                <c:pt idx="23">
                  <c:v>1200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162050"/>
          </a:solidFill>
          <a:ln w="12700">
            <a:solidFill>
              <a:srgbClr val="1620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0" y="0"/>
            <a:ext cx="109728" cy="5143500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8229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RAPPORT DE PILOTAGE — STARTUP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1188720"/>
            <a:ext cx="5303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One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02920" y="219456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MVP Mobile — « Tous les livres à 1 € »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02920" y="2834640"/>
            <a:ext cx="2286000" cy="36576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97180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Période :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Janvier – Février 2025  |  8 semaines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32918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validé :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130 000 EUR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36118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 :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profils (CDI, Alternant, Stagiaire, Freelance)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4206240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42062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LIVRE — S8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92240" y="1097280"/>
            <a:ext cx="914400" cy="914400"/>
          </a:xfrm>
          <a:prstGeom prst="ellipse">
            <a:avLst/>
          </a:prstGeom>
          <a:solidFill>
            <a:srgbClr val="1A2F6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123444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taches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46520" y="166420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Tâches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92240" y="2194560"/>
            <a:ext cx="914400" cy="914400"/>
          </a:xfrm>
          <a:prstGeom prst="ellipse">
            <a:avLst/>
          </a:prstGeom>
          <a:solidFill>
            <a:srgbClr val="1A2F6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233172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profils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46520" y="276148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Équipe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492240" y="3291840"/>
            <a:ext cx="914400" cy="914400"/>
          </a:xfrm>
          <a:prstGeom prst="ellipse">
            <a:avLst/>
          </a:prstGeom>
          <a:solidFill>
            <a:srgbClr val="1A2F6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342900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j/h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46520" y="385876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Charge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Confidentiel — Réservé à la Direction et aux Investisseurs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Périmètre MVP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22860"/>
          </a:xfrm>
          <a:prstGeom prst="rect">
            <a:avLst/>
          </a:prstGeom>
          <a:solidFill>
            <a:srgbClr val="D1D9F0"/>
          </a:solidFill>
          <a:ln w="12700">
            <a:solidFill>
              <a:srgbClr val="D1D9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914400"/>
            <a:ext cx="3931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914400"/>
            <a:ext cx="393192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144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CONCEPT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3657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mobile de troc de livres à 1 €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Dépôt de 3 livres → 1 crédit d'achat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géolocalisé — « livres autour de moi »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 Stripe · Messagerie RDV intégrée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vente &amp; souhait disponible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ISBN via caméra mobile (Open Library)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17720" y="914400"/>
            <a:ext cx="411480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17720" y="914400"/>
            <a:ext cx="4114800" cy="320040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914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CALENDRIER &amp; STACK TECHNIQUE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417320"/>
            <a:ext cx="109728" cy="457200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56048" y="141732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Cadrage / Archi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956048" y="164592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S1–S2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223760" y="1463040"/>
            <a:ext cx="1280160" cy="365760"/>
          </a:xfrm>
          <a:prstGeom prst="rect">
            <a:avLst/>
          </a:prstGeom>
          <a:solidFill>
            <a:srgbClr val="EDF2FB"/>
          </a:solidFill>
          <a:ln w="8890">
            <a:solidFill>
              <a:srgbClr val="7F77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23760" y="14630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S1–S2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057400"/>
            <a:ext cx="109728" cy="457200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56048" y="205740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MVP core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956048" y="228600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S3–S6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223760" y="2103120"/>
            <a:ext cx="1280160" cy="365760"/>
          </a:xfrm>
          <a:prstGeom prst="rect">
            <a:avLst/>
          </a:prstGeom>
          <a:solidFill>
            <a:srgbClr val="EDF2FB"/>
          </a:solidFill>
          <a:ln w="8890">
            <a:solidFill>
              <a:srgbClr val="378A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23760" y="21031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S3–S6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2697480"/>
            <a:ext cx="109728" cy="45720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56048" y="269748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&amp; Recette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956048" y="292608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S6–S7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223760" y="2743200"/>
            <a:ext cx="1280160" cy="365760"/>
          </a:xfrm>
          <a:prstGeom prst="rect">
            <a:avLst/>
          </a:prstGeom>
          <a:solidFill>
            <a:srgbClr val="EDF2FB"/>
          </a:solidFill>
          <a:ln w="8890">
            <a:solidFill>
              <a:srgbClr val="BA751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23760" y="27432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S6–S7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3337560"/>
            <a:ext cx="109728" cy="4572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56048" y="333756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prod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956048" y="356616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S8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223760" y="3383280"/>
            <a:ext cx="1280160" cy="365760"/>
          </a:xfrm>
          <a:prstGeom prst="rect">
            <a:avLst/>
          </a:prstGeom>
          <a:solidFill>
            <a:srgbClr val="EDF2FB"/>
          </a:solidFill>
          <a:ln w="8890">
            <a:solidFill>
              <a:srgbClr val="1D9E7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23760" y="33832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S8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54880" y="40233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Stack : Flutter · Node.js/Express · PostgreSQL · GCP · Stripe · Firebase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Book One MVP — Pilotage RH par les coûts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 Projet — 7 Profils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22860"/>
          </a:xfrm>
          <a:prstGeom prst="rect">
            <a:avLst/>
          </a:prstGeom>
          <a:solidFill>
            <a:srgbClr val="D1D9F0"/>
          </a:solidFill>
          <a:ln w="12700">
            <a:solidFill>
              <a:srgbClr val="D1D9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914400"/>
            <a:ext cx="26974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914400"/>
            <a:ext cx="82296" cy="868680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23160" y="987552"/>
            <a:ext cx="621792" cy="2011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23160" y="987552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CDI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66928" y="98755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 Projet / PO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12344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Cadre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6928" y="143560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70 000 € brut/an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057400" y="143560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450 €/j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83280" y="914400"/>
            <a:ext cx="26974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83280" y="914400"/>
            <a:ext cx="82296" cy="86868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94960" y="987552"/>
            <a:ext cx="621792" cy="2011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94960" y="987552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CDI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538728" y="98755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Backend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38728" y="12344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ETAM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538728" y="143560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55 000 € brut/an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0" y="143560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360 €/j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0" y="914400"/>
            <a:ext cx="26974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0" y="914400"/>
            <a:ext cx="82296" cy="868680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412480" y="987552"/>
            <a:ext cx="621792" cy="2011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12480" y="987552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CDI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6556248" y="98755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Mobile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56248" y="12344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ETAM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556248" y="143560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58 000 € brut/an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046720" y="143560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380 €/j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11480" y="2011680"/>
            <a:ext cx="26974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11480" y="2011680"/>
            <a:ext cx="82296" cy="868680"/>
          </a:xfrm>
          <a:prstGeom prst="rect">
            <a:avLst/>
          </a:prstGeom>
          <a:solidFill>
            <a:srgbClr val="D4537E"/>
          </a:solidFill>
          <a:ln w="12700">
            <a:solidFill>
              <a:srgbClr val="D4537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423160" y="2084832"/>
            <a:ext cx="621792" cy="2011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23160" y="2084832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CDI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566928" y="208483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Engineer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66928" y="233172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ETAM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66928" y="253288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48 000 € brut/an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057400" y="253288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5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310 €/j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383280" y="2011680"/>
            <a:ext cx="26974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383280" y="2011680"/>
            <a:ext cx="82296" cy="8686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394960" y="2084832"/>
            <a:ext cx="621792" cy="20116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94960" y="2084832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STAGIAIRE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3538728" y="208483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Stagiaire Recette/Doc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538728" y="233172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Stagiaire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3538728" y="253288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7 800 € brut/an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029200" y="253288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52 €/j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400800" y="2011680"/>
            <a:ext cx="26974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400800" y="2011680"/>
            <a:ext cx="82296" cy="868680"/>
          </a:xfrm>
          <a:prstGeom prst="rect">
            <a:avLst/>
          </a:prstGeom>
          <a:solidFill>
            <a:srgbClr val="B4B2A9"/>
          </a:solidFill>
          <a:ln w="12700">
            <a:solidFill>
              <a:srgbClr val="B4B2A9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412480" y="2084832"/>
            <a:ext cx="621792" cy="201168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412480" y="2084832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ALTERNANT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6556248" y="208483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Alternant UX/Dev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556248" y="233172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Alternant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556248" y="253288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18 000 € brut/an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8046720" y="253288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90 €/j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11480" y="3108960"/>
            <a:ext cx="26974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411480" y="3108960"/>
            <a:ext cx="82296" cy="868680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423160" y="3182112"/>
            <a:ext cx="621792" cy="201168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423160" y="3182112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566928" y="318211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 Paiement/Sécu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566928" y="342900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Freelance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566928" y="363016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155 000 € brut/an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2057400" y="363016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800 €/j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Book One MVP — Pilotage RH par les coûts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RH — Répartition des Coûts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22860"/>
          </a:xfrm>
          <a:prstGeom prst="rect">
            <a:avLst/>
          </a:prstGeom>
          <a:solidFill>
            <a:srgbClr val="D1D9F0"/>
          </a:solidFill>
          <a:ln w="12700">
            <a:solidFill>
              <a:srgbClr val="D1D9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914400"/>
            <a:ext cx="2011680" cy="822960"/>
          </a:xfrm>
          <a:prstGeom prst="rect">
            <a:avLst/>
          </a:prstGeom>
          <a:solidFill>
            <a:srgbClr val="FFFFFF"/>
          </a:solidFill>
          <a:ln w="1524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914400"/>
            <a:ext cx="2011680" cy="640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2412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112 000 €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1389888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RH total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11480" y="1572768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86% du budget validé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560320" y="914400"/>
            <a:ext cx="2011680" cy="822960"/>
          </a:xfrm>
          <a:prstGeom prst="rect">
            <a:avLst/>
          </a:prstGeom>
          <a:solidFill>
            <a:srgbClr val="FFFFFF"/>
          </a:solidFill>
          <a:ln w="15240">
            <a:solidFill>
              <a:srgbClr val="378A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0" y="914400"/>
            <a:ext cx="2011680" cy="64008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102412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7 200 €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560320" y="1389888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hors-RH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560320" y="1572768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Infra, licences, APIs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709160" y="914400"/>
            <a:ext cx="2011680" cy="822960"/>
          </a:xfrm>
          <a:prstGeom prst="rect">
            <a:avLst/>
          </a:prstGeom>
          <a:solidFill>
            <a:srgbClr val="FFFFFF"/>
          </a:solidFill>
          <a:ln w="15240">
            <a:solidFill>
              <a:srgbClr val="BA751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914400"/>
            <a:ext cx="2011680" cy="64008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102412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10 800 €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709160" y="1389888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 risques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709160" y="1572768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Couverture risques S4–S8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858000" y="914400"/>
            <a:ext cx="2011680" cy="822960"/>
          </a:xfrm>
          <a:prstGeom prst="rect">
            <a:avLst/>
          </a:prstGeom>
          <a:solidFill>
            <a:srgbClr val="FFFFFF"/>
          </a:solidFill>
          <a:ln w="15240">
            <a:solidFill>
              <a:srgbClr val="1D9E7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58000" y="914400"/>
            <a:ext cx="2011680" cy="640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0" y="102412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130 000 €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858000" y="1389888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validé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858000" y="1572768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Enveloppe totale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11480" y="1920240"/>
            <a:ext cx="832104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48640" y="19933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par profil — Projet (8 semaines)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286000"/>
          <a:ext cx="8138160" cy="2103120"/>
        </p:xfrm>
        <a:graphic>
          <a:graphicData uri="http://schemas.openxmlformats.org/drawingml/2006/table">
            <a:tbl>
              <a:tblPr/>
              <a:tblGrid>
                <a:gridCol w="2560320"/>
                <a:gridCol w="1097280"/>
                <a:gridCol w="640080"/>
                <a:gridCol w="822960"/>
                <a:gridCol w="1280160"/>
                <a:gridCol w="822960"/>
              </a:tblGrid>
              <a:tr h="233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J/H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Taux/j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Coût projet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33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Freelance Paiement/Sécu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FREELANCE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800 €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19 200 €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Chef Projet / PO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450 €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14 400 €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 Mobile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380 €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15 200 €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 Backend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360 €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14 400 €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QA Engineer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310 €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7 440 €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Alternant UX/Dev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ALTERNANT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90 €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2 160 €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Stagiaire Recette/Doc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STAGIAIRE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52 €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832 €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j/h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73 632 €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F"/>
                    </a:solidFill>
                  </a:tcPr>
                </a:tc>
              </a:tr>
            </a:tbl>
          </a:graphicData>
        </a:graphic>
      </p:graphicFrame>
      <p:sp>
        <p:nvSpPr>
          <p:cNvPr id="27" name="Text 24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Book One MVP — Pilotage RH par les coûts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Projet — 24 Tâches · 8 Semaines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22860"/>
          </a:xfrm>
          <a:prstGeom prst="rect">
            <a:avLst/>
          </a:prstGeom>
          <a:solidFill>
            <a:srgbClr val="D1D9F0"/>
          </a:solidFill>
          <a:ln w="12700">
            <a:solidFill>
              <a:srgbClr val="D1D9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0" y="914400"/>
            <a:ext cx="749808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0" y="91440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328416" y="914400"/>
            <a:ext cx="749808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28416" y="91440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096512" y="914400"/>
            <a:ext cx="749808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96512" y="91440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64608" y="914400"/>
            <a:ext cx="749808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64608" y="91440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32704" y="914400"/>
            <a:ext cx="749808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32704" y="91440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0" y="914400"/>
            <a:ext cx="749808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91440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168896" y="914400"/>
            <a:ext cx="749808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68896" y="91440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936992" y="914400"/>
            <a:ext cx="749808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36992" y="91440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S8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560320" y="658368"/>
            <a:ext cx="3072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Janvier 2025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632704" y="658368"/>
            <a:ext cx="3072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Février 2025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1480" y="1261872"/>
            <a:ext cx="2103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Cadrage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560320" y="1271016"/>
            <a:ext cx="731520" cy="201168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60320" y="127101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11480" y="1536192"/>
            <a:ext cx="2103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UX/UI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328416" y="1545336"/>
            <a:ext cx="731520" cy="201168"/>
          </a:xfrm>
          <a:prstGeom prst="rect">
            <a:avLst/>
          </a:prstGeom>
          <a:solidFill>
            <a:srgbClr val="B4B2A9"/>
          </a:solidFill>
          <a:ln w="12700">
            <a:solidFill>
              <a:srgbClr val="B4B2A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28416" y="154533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11480" y="1810512"/>
            <a:ext cx="2103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328416" y="1819656"/>
            <a:ext cx="731520" cy="201168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28416" y="181965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FRL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11480" y="2084832"/>
            <a:ext cx="2103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CI/CD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328416" y="2093976"/>
            <a:ext cx="731520" cy="201168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28416" y="209397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FRL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11480" y="2359152"/>
            <a:ext cx="2103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Auth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096512" y="2368296"/>
            <a:ext cx="731520" cy="2011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096512" y="236829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11480" y="2633472"/>
            <a:ext cx="2103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&amp; BDD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864608" y="2642616"/>
            <a:ext cx="731520" cy="2011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64608" y="264261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11480" y="2907792"/>
            <a:ext cx="2103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Dépôt &amp; Scan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864608" y="2916936"/>
            <a:ext cx="731520" cy="201168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64608" y="291693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11480" y="3182112"/>
            <a:ext cx="2103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Achat 1 €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632704" y="3191256"/>
            <a:ext cx="731520" cy="2011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632704" y="319125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11480" y="3456432"/>
            <a:ext cx="2103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Messagerie RDV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400800" y="3465576"/>
            <a:ext cx="731520" cy="2011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00800" y="346557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11480" y="3730752"/>
            <a:ext cx="2103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(Freelance)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400800" y="3739896"/>
            <a:ext cx="731520" cy="201168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00800" y="373989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FRL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11480" y="4005072"/>
            <a:ext cx="2103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&amp; Recette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400800" y="4014216"/>
            <a:ext cx="1499616" cy="201168"/>
          </a:xfrm>
          <a:prstGeom prst="rect">
            <a:avLst/>
          </a:prstGeom>
          <a:solidFill>
            <a:srgbClr val="D4537E"/>
          </a:solidFill>
          <a:ln w="12700">
            <a:solidFill>
              <a:srgbClr val="D4537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00800" y="4014216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411480" y="4279392"/>
            <a:ext cx="2103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 &amp; Prod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7936992" y="4288536"/>
            <a:ext cx="731520" cy="201168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936992" y="428853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411480" y="4572000"/>
            <a:ext cx="228600" cy="128016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85800" y="4553712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Chemin critique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2560320" y="4572000"/>
            <a:ext cx="228600" cy="128016"/>
          </a:xfrm>
          <a:prstGeom prst="rect">
            <a:avLst/>
          </a:prstGeom>
          <a:solidFill>
            <a:srgbClr val="CADCFC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834640" y="4553712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Tâche non-critique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Book One MVP — Pilotage RH par les coûts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Direction Financière — Jalons S4 &amp; S8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22860"/>
          </a:xfrm>
          <a:prstGeom prst="rect">
            <a:avLst/>
          </a:prstGeom>
          <a:solidFill>
            <a:srgbClr val="D1D9F0"/>
          </a:solidFill>
          <a:ln w="12700">
            <a:solidFill>
              <a:srgbClr val="D1D9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914400"/>
            <a:ext cx="13258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D9E7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914400"/>
            <a:ext cx="1325880" cy="640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24128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11480" y="1408176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d'achèvement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11480" y="1609344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24/24 tâches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810512" y="914400"/>
            <a:ext cx="13258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810512" y="914400"/>
            <a:ext cx="1325880" cy="640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10512" y="1024128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31 590 €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810512" y="1408176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planifié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810512" y="1609344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 jalon S8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209544" y="914400"/>
            <a:ext cx="13258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4B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9544" y="914400"/>
            <a:ext cx="1325880" cy="64008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9544" y="1024128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33 422 €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209544" y="1408176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réel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209544" y="1609344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+5.8% vs plan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608576" y="914400"/>
            <a:ext cx="13258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378A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08576" y="914400"/>
            <a:ext cx="1325880" cy="64008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08576" y="1024128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25.7%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608576" y="1408176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consommé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608576" y="1609344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/ 130 000 €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007608" y="914400"/>
            <a:ext cx="13258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BA751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07608" y="914400"/>
            <a:ext cx="1325880" cy="64008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07608" y="1024128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4 000 €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007608" y="1408176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Coûts non-planifiés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007608" y="1609344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Risques S8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406640" y="914400"/>
            <a:ext cx="13258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D9E7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406640" y="914400"/>
            <a:ext cx="1325880" cy="640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06640" y="1024128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96 578 €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406640" y="1408176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 disponible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406640" y="1609344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Budget restant</a:t>
            </a:r>
            <a:endParaRPr lang="en-US" sz="800" dirty="0"/>
          </a:p>
        </p:txBody>
      </p:sp>
      <p:graphicFrame>
        <p:nvGraphicFramePr>
          <p:cNvPr id="34" name="Chart 0" descr=""/>
          <p:cNvGraphicFramePr/>
          <p:nvPr/>
        </p:nvGraphicFramePr>
        <p:xfrm>
          <a:off x="411480" y="2011680"/>
          <a:ext cx="530352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5" name="Shape 32"/>
          <p:cNvSpPr/>
          <p:nvPr/>
        </p:nvSpPr>
        <p:spPr>
          <a:xfrm>
            <a:off x="5897880" y="2011680"/>
            <a:ext cx="2834640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5897880" y="2011680"/>
            <a:ext cx="2834640" cy="274320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897880" y="20116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Risques survenus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5989320" y="2377440"/>
            <a:ext cx="54864" cy="41148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126480" y="2377440"/>
            <a:ext cx="24688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RS1 — API ISBN — limite de taux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6126480" y="257860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S4 · Moyen · 450 €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5989320" y="2953512"/>
            <a:ext cx="54864" cy="41148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126480" y="2953512"/>
            <a:ext cx="24688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RS2 — DPO — recomm. stockage</a:t>
            </a:r>
            <a:endParaRPr lang="en-US" sz="950" dirty="0"/>
          </a:p>
        </p:txBody>
      </p:sp>
      <p:sp>
        <p:nvSpPr>
          <p:cNvPr id="43" name="Text 40"/>
          <p:cNvSpPr/>
          <p:nvPr/>
        </p:nvSpPr>
        <p:spPr>
          <a:xfrm>
            <a:off x="6126480" y="315468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S4 · Faible · 200 €</a:t>
            </a:r>
            <a:endParaRPr lang="en-US" sz="850" dirty="0"/>
          </a:p>
        </p:txBody>
      </p:sp>
      <p:sp>
        <p:nvSpPr>
          <p:cNvPr id="44" name="Shape 41"/>
          <p:cNvSpPr/>
          <p:nvPr/>
        </p:nvSpPr>
        <p:spPr>
          <a:xfrm>
            <a:off x="5989320" y="3529584"/>
            <a:ext cx="54864" cy="411480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126480" y="3529584"/>
            <a:ext cx="24688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RS3 — Stripe — délai validation</a:t>
            </a:r>
            <a:endParaRPr lang="en-US" sz="950" dirty="0"/>
          </a:p>
        </p:txBody>
      </p:sp>
      <p:sp>
        <p:nvSpPr>
          <p:cNvPr id="46" name="Text 43"/>
          <p:cNvSpPr/>
          <p:nvPr/>
        </p:nvSpPr>
        <p:spPr>
          <a:xfrm>
            <a:off x="6126480" y="3730752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S8 · Élevé · 1 200 €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5989320" y="4105656"/>
            <a:ext cx="54864" cy="41148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6126480" y="4105656"/>
            <a:ext cx="24688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RS4 — Dérive charge Dev Mobile</a:t>
            </a:r>
            <a:endParaRPr lang="en-US" sz="950" dirty="0"/>
          </a:p>
        </p:txBody>
      </p:sp>
      <p:sp>
        <p:nvSpPr>
          <p:cNvPr id="49" name="Text 46"/>
          <p:cNvSpPr/>
          <p:nvPr/>
        </p:nvSpPr>
        <p:spPr>
          <a:xfrm>
            <a:off x="6126480" y="4306824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S8 · Moyen · 2 800 €</a:t>
            </a:r>
            <a:endParaRPr lang="en-US" sz="850" dirty="0"/>
          </a:p>
        </p:txBody>
      </p:sp>
      <p:sp>
        <p:nvSpPr>
          <p:cNvPr id="50" name="Text 47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Book One MVP — Pilotage RH par les coûts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Global — Postes de Coût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22860"/>
          </a:xfrm>
          <a:prstGeom prst="rect">
            <a:avLst/>
          </a:prstGeom>
          <a:solidFill>
            <a:srgbClr val="D1D9F0"/>
          </a:solidFill>
          <a:ln w="12700">
            <a:solidFill>
              <a:srgbClr val="D1D9F0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411480" y="914400"/>
          <a:ext cx="384048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480560" y="914400"/>
            <a:ext cx="425196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617720" y="98755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Détail des postes hors-RH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617720" y="137160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&amp; Cloud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617720" y="1554480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VM, DB, GCS, Cloud Run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8046720" y="137160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1 800 €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617720" y="1737360"/>
            <a:ext cx="91440" cy="64008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17720" y="184708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&amp; APIs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617720" y="2029968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Google Maps, Stripe frais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8046720" y="1847088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1 800 €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617720" y="2212848"/>
            <a:ext cx="91440" cy="64008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617720" y="2322576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Coûts cachés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617720" y="2505456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Coordination, dette tech.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8046720" y="2322576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2 000 €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617720" y="2688336"/>
            <a:ext cx="91440" cy="64008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617720" y="2798064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Légal / RGPD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617720" y="2980944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DPO externe — 2j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8046720" y="2798064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1 100 €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617720" y="3163824"/>
            <a:ext cx="91440" cy="64008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617720" y="327355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 &amp; Tests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617720" y="3456432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Sentry, monitoring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8046720" y="3273552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800 €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4617720" y="3639312"/>
            <a:ext cx="1097280" cy="64008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617720" y="374904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Opérationnel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4617720" y="3931920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Réunions, arbitrages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8046720" y="374904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900 €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4617720" y="4114800"/>
            <a:ext cx="1234440" cy="64008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617720" y="422452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Licences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4617720" y="4407408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Jira, Figma, GitHub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8046720" y="4224528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470 €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4617720" y="4590288"/>
            <a:ext cx="644652" cy="64008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Book One MVP — Pilotage RH par les coûts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Risques Projet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22860"/>
          </a:xfrm>
          <a:prstGeom prst="rect">
            <a:avLst/>
          </a:prstGeom>
          <a:solidFill>
            <a:srgbClr val="D1D9F0"/>
          </a:solidFill>
          <a:ln w="12700">
            <a:solidFill>
              <a:srgbClr val="D1D9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 Probabilité × Impact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143000" y="1234440"/>
            <a:ext cx="1106424" cy="832104"/>
          </a:xfrm>
          <a:prstGeom prst="rect">
            <a:avLst/>
          </a:prstGeom>
          <a:solidFill>
            <a:srgbClr val="EDF2FB"/>
          </a:solidFill>
          <a:ln w="8890">
            <a:solidFill>
              <a:srgbClr val="BA75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1234440"/>
            <a:ext cx="1106424" cy="832104"/>
          </a:xfrm>
          <a:prstGeom prst="rect">
            <a:avLst/>
          </a:prstGeom>
          <a:solidFill>
            <a:srgbClr val="EDF2FB"/>
          </a:solidFill>
          <a:ln w="8890">
            <a:solidFill>
              <a:srgbClr val="E24B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29000" y="1234440"/>
            <a:ext cx="1106424" cy="832104"/>
          </a:xfrm>
          <a:prstGeom prst="rect">
            <a:avLst/>
          </a:prstGeom>
          <a:solidFill>
            <a:srgbClr val="EDF2FB"/>
          </a:solidFill>
          <a:ln w="8890">
            <a:solidFill>
              <a:srgbClr val="E24B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3000" y="2103120"/>
            <a:ext cx="1106424" cy="832104"/>
          </a:xfrm>
          <a:prstGeom prst="rect">
            <a:avLst/>
          </a:prstGeom>
          <a:solidFill>
            <a:srgbClr val="EDF2FB"/>
          </a:solidFill>
          <a:ln w="8890">
            <a:solidFill>
              <a:srgbClr val="1D9E7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0" y="2103120"/>
            <a:ext cx="1106424" cy="832104"/>
          </a:xfrm>
          <a:prstGeom prst="rect">
            <a:avLst/>
          </a:prstGeom>
          <a:solidFill>
            <a:srgbClr val="EDF2FB"/>
          </a:solidFill>
          <a:ln w="8890">
            <a:solidFill>
              <a:srgbClr val="BA751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29000" y="2103120"/>
            <a:ext cx="1106424" cy="832104"/>
          </a:xfrm>
          <a:prstGeom prst="rect">
            <a:avLst/>
          </a:prstGeom>
          <a:solidFill>
            <a:srgbClr val="EDF2FB"/>
          </a:solidFill>
          <a:ln w="8890">
            <a:solidFill>
              <a:srgbClr val="E24B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3000" y="2971800"/>
            <a:ext cx="1106424" cy="832104"/>
          </a:xfrm>
          <a:prstGeom prst="rect">
            <a:avLst/>
          </a:prstGeom>
          <a:solidFill>
            <a:srgbClr val="EDF2FB"/>
          </a:solidFill>
          <a:ln w="8890">
            <a:solidFill>
              <a:srgbClr val="1D9E7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0" y="2971800"/>
            <a:ext cx="1106424" cy="832104"/>
          </a:xfrm>
          <a:prstGeom prst="rect">
            <a:avLst/>
          </a:prstGeom>
          <a:solidFill>
            <a:srgbClr val="EDF2FB"/>
          </a:solidFill>
          <a:ln w="8890">
            <a:solidFill>
              <a:srgbClr val="1D9E7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29000" y="2971800"/>
            <a:ext cx="1106424" cy="832104"/>
          </a:xfrm>
          <a:prstGeom prst="rect">
            <a:avLst/>
          </a:prstGeom>
          <a:solidFill>
            <a:srgbClr val="EDF2FB"/>
          </a:solidFill>
          <a:ln w="8890">
            <a:solidFill>
              <a:srgbClr val="BA751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3840480"/>
            <a:ext cx="11064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Faible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286000" y="3840480"/>
            <a:ext cx="11064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Moyen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29000" y="3840480"/>
            <a:ext cx="11064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Élevé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11480" y="153162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Haute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11480" y="240030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Moyenne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11480" y="326898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Faible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 rot="16200000">
            <a:off x="411480" y="2240280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Probabilité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143000" y="4078224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Impact →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656332" y="2336292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56332" y="23362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656332" y="1467612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56332" y="14676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799332" y="2336292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99332" y="23362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799332" y="3204972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99332" y="32049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206240" y="914400"/>
            <a:ext cx="4526280" cy="4041648"/>
          </a:xfrm>
          <a:prstGeom prst="rect">
            <a:avLst/>
          </a:prstGeom>
          <a:solidFill>
            <a:srgbClr val="FFFFFF"/>
          </a:solidFill>
          <a:ln w="6350">
            <a:solidFill>
              <a:srgbClr val="D1D9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206240" y="914400"/>
            <a:ext cx="452628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06240" y="91440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Détail des risques — Provisions &amp; Stratégies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297680" y="1298448"/>
            <a:ext cx="73152" cy="749808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53128" y="1335024"/>
            <a:ext cx="4160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 — Complexité Paiement / Géo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453128" y="1572768"/>
            <a:ext cx="4160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Probabilité : Moyenne  |  Impact : Moyen  |  Provision : 5 000 €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453128" y="1773936"/>
            <a:ext cx="4160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78A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Stratégie : Spike technique dès S3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297680" y="2103120"/>
            <a:ext cx="73152" cy="749808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453128" y="2139696"/>
            <a:ext cx="4160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— Retards CEO (MOA)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453128" y="2377440"/>
            <a:ext cx="4160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Probabilité : Haute  |  Impact : Moyen  |  Provision : 3 000 €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453128" y="2578608"/>
            <a:ext cx="4160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78A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Stratégie : Points validation hebdo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297680" y="2907792"/>
            <a:ext cx="73152" cy="749808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453128" y="2944368"/>
            <a:ext cx="4160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 — Bugs critiques recette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453128" y="3182112"/>
            <a:ext cx="4160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Probabilité : Moyenne  |  Impact : Élevé  |  Provision : 8 000 €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453128" y="3383280"/>
            <a:ext cx="4160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78A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Stratégie : QA embarqué dès S4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297680" y="3712464"/>
            <a:ext cx="73152" cy="7498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53128" y="3749040"/>
            <a:ext cx="4160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 — Freelance indisponible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453128" y="3986784"/>
            <a:ext cx="4160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Probabilité : Faible  |  Impact : Élevé  |  Provision : 6 000 €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453128" y="4187952"/>
            <a:ext cx="4160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78A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Stratégie : Bloquer créneaux à l'avance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297680" y="4572000"/>
            <a:ext cx="4315968" cy="256032"/>
          </a:xfrm>
          <a:prstGeom prst="rect">
            <a:avLst/>
          </a:prstGeom>
          <a:solidFill>
            <a:srgbClr val="EFF3FF"/>
          </a:solidFill>
          <a:ln w="8890">
            <a:solidFill>
              <a:srgbClr val="1E276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297680" y="4572000"/>
            <a:ext cx="4315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provisions : 22 000 €  |  Budget risques alloué : 10 800 €  →  Exposition nette : 11 200 €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Book One MVP — Pilotage RH par les coûts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&amp; Projection Financière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22860"/>
          </a:xfrm>
          <a:prstGeom prst="rect">
            <a:avLst/>
          </a:prstGeom>
          <a:solidFill>
            <a:srgbClr val="D1D9F0"/>
          </a:solidFill>
          <a:ln w="12700">
            <a:solidFill>
              <a:srgbClr val="D1D9F0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411480" y="914400"/>
          <a:ext cx="530352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897880" y="914400"/>
            <a:ext cx="28346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897880" y="914400"/>
            <a:ext cx="73152" cy="5303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53328" y="95097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130 000 €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053328" y="1207008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Investissement total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897880" y="1508760"/>
            <a:ext cx="28346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378A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897880" y="1508760"/>
            <a:ext cx="73152" cy="530352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154533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180 000 €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053328" y="1801368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 prévisionnel (12M)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897880" y="2103120"/>
            <a:ext cx="28346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1D9E7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897880" y="2103120"/>
            <a:ext cx="73152" cy="5303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53328" y="213969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M11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053328" y="2395728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Break-even estimé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897880" y="2697480"/>
            <a:ext cx="28346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1D9E7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897880" y="2697480"/>
            <a:ext cx="73152" cy="5303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053328" y="273405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+38%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053328" y="2990088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ROI à 24 mois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5897880" y="3291840"/>
            <a:ext cx="28346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BA751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897880" y="3291840"/>
            <a:ext cx="73152" cy="530352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053328" y="332841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1 €/livre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6053328" y="3584448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Panier moyen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5897880" y="3886200"/>
            <a:ext cx="28346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7F77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5897880" y="3886200"/>
            <a:ext cx="73152" cy="530352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053328" y="392277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Stripe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053328" y="4178808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Modèle Freemium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411480" y="397764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Hypothèses : 500 utilisateurs actifs à M3, croissance 20%/mois jusqu'à M8, plateau à 25 000 €/mois à M12. Modèle : commission Stripe 1.4% + 0.25 € par transaction.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Book One MVP — Pilotage RH par les coûts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162050"/>
          </a:solidFill>
          <a:ln w="12700">
            <a:solidFill>
              <a:srgbClr val="1620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0" y="0"/>
            <a:ext cx="109728" cy="51435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3152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LIVRE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1188720"/>
            <a:ext cx="5303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 &amp; Prochaines Étapes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02920" y="2029968"/>
            <a:ext cx="2286000" cy="36576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2185416"/>
            <a:ext cx="256032" cy="256032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1854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214884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livré en 8 semaines — 100% des tâches planifiées réalisées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642616"/>
            <a:ext cx="256032" cy="256032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6426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68680" y="260604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Écart budgétaire maîtrisé : +5.8% — 1 832 € de dépassement sur 33 422 €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099816"/>
            <a:ext cx="256032" cy="256032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0998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68680" y="306324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risques identifiés — 2 en cours de résolution (Stripe, charge Dev Mobile)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3557016"/>
            <a:ext cx="256032" cy="256032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5570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68680" y="352044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restant disponible : 96 578 € pour Phase 2 (scale &amp; acquisition)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0" y="1371600"/>
            <a:ext cx="2286000" cy="822960"/>
          </a:xfrm>
          <a:prstGeom prst="rect">
            <a:avLst/>
          </a:prstGeom>
          <a:solidFill>
            <a:srgbClr val="1A2F6E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144475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Scale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46520" y="17830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Campagne d'acquisition &amp; onboarding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400800" y="2377440"/>
            <a:ext cx="2286000" cy="822960"/>
          </a:xfrm>
          <a:prstGeom prst="rect">
            <a:avLst/>
          </a:prstGeom>
          <a:solidFill>
            <a:srgbClr val="1A2F6E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245059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V2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46520" y="27889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Recommandations IA + abonnement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400800" y="3383280"/>
            <a:ext cx="2286000" cy="822960"/>
          </a:xfrm>
          <a:prstGeom prst="rect">
            <a:avLst/>
          </a:prstGeom>
          <a:solidFill>
            <a:srgbClr val="1A2F6E"/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46520" y="345643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Levée de fonds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46520" y="37947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Seed round — Q3 2025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Confidentiel — Book One · Mai 2026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Book One MVP — Présentation de pilotage</dc:title>
  <dc:subject>PptxGenJS Presentation</dc:subject>
  <dc:creator>Book One — Pilotage RH par les coûts</dc:creator>
  <cp:lastModifiedBy>Book One — Pilotage RH par les coûts</cp:lastModifiedBy>
  <cp:revision>1</cp:revision>
  <dcterms:created xsi:type="dcterms:W3CDTF">2026-05-05T14:19:24Z</dcterms:created>
  <dcterms:modified xsi:type="dcterms:W3CDTF">2026-05-05T14:19:24Z</dcterms:modified>
</cp:coreProperties>
</file>