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BOOK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78ADD"/>
                </a:solidFill>
              </a:defRPr>
            </a:pPr>
            <a:r>
              <a:t>Tous les livres a 1 EUR — MVP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Pilotage par les couts — Rapport de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182880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Duree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8 semaines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114800"/>
            <a:ext cx="182880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Budget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130 000 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182880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Equipe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5 profils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114800"/>
            <a:ext cx="182880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Statut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MVP Livre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F5E5A"/>
                </a:solidFill>
              </a:defRPr>
            </a:pPr>
            <a:r>
              <a:t>Janvier — Fevrier 2025  |  Sup de Vinci 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Perimetre &amp; Hypotheses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MVP (9 fonctionnalites)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Connexion / Inscription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Catalogue geolocise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Favoris &amp; Wishes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Depot &amp; Scan ISBN (3 livres)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Achat a 1 EUR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Messagerie RDV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Notifications vente/souhait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Mode invite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Remise en main propre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BA7517"/>
                </a:solidFill>
              </a:defRPr>
            </a:pPr>
            <a:r>
              <a:t>Bonus (4 fonctionnalites)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Mode invite etendu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Geolocalisation avancee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Integration Stripe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Remise en main propre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188720"/>
            <a:ext cx="3749039" cy="22860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9E75"/>
                </a:solidFill>
              </a:defRPr>
            </a:pPr>
            <a:r>
              <a:t>Hypotheses cles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TJM/j x j/h = cout tache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Reserve imprevus 15%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Complexite : Faible / Moyenne / Haute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5 jours ouvres par semaine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Charges patronales CDI : 42-45%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1247120" cy="7315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78ADD"/>
                </a:solidFill>
              </a:defRPr>
            </a:pPr>
            <a:r>
              <a:t>Debut 6 janvier 2025  —  Livraison 28 fevrier 2025  —  8 semaines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P1 Cadrage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S1-S2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5 200 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P2 Archi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S1-S3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12 800 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P3 Dev MVP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S3-S6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32 400 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P4 Bonus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S5-S7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14 500 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P5 Tests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S6-S8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9 800 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846320"/>
            <a:ext cx="1737360" cy="16459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P6 Prod</a:t>
            </a:r>
          </a:p>
          <a:p>
            <a:pPr>
              <a:spcAft>
                <a:spcPts val="400"/>
              </a:spcAft>
              <a:defRPr sz="1100" b="0">
                <a:solidFill>
                  <a:srgbClr val="378ADD"/>
                </a:solidFill>
              </a:defRPr>
            </a:pPr>
            <a:r>
              <a:t>S7-S8</a:t>
            </a:r>
          </a:p>
          <a:p>
            <a:pPr>
              <a:spcAft>
                <a:spcPts val="400"/>
              </a:spcAft>
              <a:defRPr sz="1400" b="1">
                <a:solidFill>
                  <a:srgbClr val="1D9E75"/>
                </a:solidFill>
              </a:defRPr>
            </a:pPr>
            <a:r>
              <a:t>5 700 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Structure des couts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D9E75"/>
                </a:solidFill>
              </a:defRPr>
            </a:pPr>
            <a:r>
              <a:t>RH salaries CDI  —  60 800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Chef projet, UX, Dev mob, Dev back,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188720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D9E75"/>
                </a:solidFill>
              </a:defRPr>
            </a:pPr>
            <a:r>
              <a:t>60 800 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378ADD"/>
                </a:solidFill>
              </a:defRPr>
            </a:pPr>
            <a:r>
              <a:t>Freelance  —  12 600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Paiement, Securite, Geoloc, Archi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65960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78ADD"/>
                </a:solidFill>
              </a:defRPr>
            </a:pPr>
            <a:r>
              <a:t>12 600 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BA7517"/>
                </a:solidFill>
              </a:defRPr>
            </a:pPr>
            <a:r>
              <a:t>Alternant + Stagiaire  —  2 350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80 EUR/j + 50 EUR/j (charges incluses)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A7517"/>
                </a:solidFill>
              </a:defRPr>
            </a:pPr>
            <a:r>
              <a:t>2 350 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39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7F77DD"/>
                </a:solidFill>
              </a:defRPr>
            </a:pPr>
            <a:r>
              <a:t>Technique &amp; Outils  —  5 050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Cloud, BDD, API, Stripe, Notifs,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520439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F77DD"/>
                </a:solidFill>
              </a:defRPr>
            </a:pPr>
            <a:r>
              <a:t>5 050 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5F5E5A"/>
                </a:solidFill>
              </a:defRPr>
            </a:pPr>
            <a:r>
              <a:t>Couts caches  —  2 250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Reunions, Corrections,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97680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F5E5A"/>
                </a:solidFill>
              </a:defRPr>
            </a:pPr>
            <a:r>
              <a:t>2 250 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73152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E24B4A"/>
                </a:solidFill>
              </a:defRPr>
            </a:pPr>
            <a:r>
              <a:t>Mise en prod &amp; stores  —  3 300 EUR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Deploy + App Store + Play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074920"/>
            <a:ext cx="1828800" cy="685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24B4A"/>
                </a:solidFill>
              </a:defRPr>
            </a:pPr>
            <a:r>
              <a:t>3 300 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Reserve imprevus 15% : 12 400 EUR   |   BUDGET TOTAL : 98 350 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1714"/>
          </a:solidFill>
          <a:ln w="12700">
            <a:solidFill>
              <a:srgbClr val="1A17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ONE  </a:t>
            </a:r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Budget Prévisionnel MVP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6968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98 350 €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96696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j/h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Jours/homme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06424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886968"/>
            <a:ext cx="2834640" cy="38404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Périmètre &amp; Hypothèses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1271016"/>
            <a:ext cx="2834640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(9 fonctionnalités)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· Catalogue · Favoris · Dépôt · Achat 1€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MVP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 vente · Messagerie RDV · Souhaits · Notif souhait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(4 fonctionnalités)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invité · Géolocalisation · Stripe · Remise main propre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clés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TJM/j × j/h = coût tâche · Réserve 15% · Complexité F/M/F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2907792"/>
            <a:ext cx="2651760" cy="301752"/>
          </a:xfrm>
          <a:prstGeom prst="rect">
            <a:avLst/>
          </a:prstGeom>
          <a:solidFill>
            <a:srgbClr val="E6F3F3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35224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1 jan → Livraison 31 mars 2025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886968"/>
            <a:ext cx="2834640" cy="384048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2841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Structure des coûts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1271016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salariés CDI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4670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projet · UX · Dev mob · Dev back · DevOps · QA  →  60 800 €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4670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4670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· Sécu · Géoloc · Archi  →  12 600 €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4670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 + Stagiaire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4670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80 €/j · 50 €/j (charges incluses)  →  2 350 €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4670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outils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4670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BDD · API · Stripe · Notifs · Monitoring  →  5 050 €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46704" y="27889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cachés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46704" y="296265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· Corrections · Documentation  →  2 250 €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46704" y="31363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 &amp; stores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46704" y="331012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App Store + Play Store  →  3 300 €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10128" y="3602736"/>
            <a:ext cx="2651760" cy="301752"/>
          </a:xfrm>
          <a:prstGeom prst="rect">
            <a:avLst/>
          </a:prstGeom>
          <a:solidFill>
            <a:srgbClr val="FDF1D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630168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Réserve imprévus 15% : 12 400 €  →  Total : 98 350 €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36208" y="886968"/>
            <a:ext cx="2834640" cy="384048"/>
          </a:xfrm>
          <a:prstGeom prst="rect">
            <a:avLst/>
          </a:prstGeom>
          <a:solidFill>
            <a:srgbClr val="6C3FB5"/>
          </a:solidFill>
          <a:ln w="12700">
            <a:solidFill>
              <a:srgbClr val="6C3FB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4593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Planning &amp; Risques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36208" y="1271016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6422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Cadrage  S1–S3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6422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5 200 €  ·  Backlog, stack, archi cloud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6422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UX/UI &amp; Archi  S3–S6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6422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12 800 €  ·  Maquettes HD, CI/CD, modèle données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6422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Dev MVP  S5–S10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422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32 400 €  ·  API + App mobile + Messagerie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6422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Bonus  S8–S11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6422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14 500 €  ·  Stripe · Géoloc · Invité · Remise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64224" y="27889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Tests &amp; Recette  S10–S12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64224" y="296265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9 800 €   ·  QA fonctionnel + sécurité + UAT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64224" y="31363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Production  S12–S13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64224" y="331012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5 700 €   ·  Déploiement + Stores + Monitoring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27648" y="3602736"/>
            <a:ext cx="2651760" cy="301752"/>
          </a:xfrm>
          <a:prstGeom prst="rect">
            <a:avLst/>
          </a:prstGeom>
          <a:solidFill>
            <a:srgbClr val="F0EBF9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630168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C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Risques : Géoloc complexe · Freelance +3j · CEO retard · Stores +1s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53728" y="886968"/>
            <a:ext cx="2743200" cy="38404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363456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Équipe &amp; Suivi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253728" y="1271016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381744" y="139903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  ·  168 j/h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381744" y="1572768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réel = (brut×1.42) ÷ 218j  →  coût employeur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381744" y="17465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mobile  30j  ·  Dev back  28j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381744" y="1920240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550 €/j TJM direct  ·  780 €/j TJM réel employeur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381744" y="209397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 18j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381744" y="2267712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700 €/j · Pas de charges · = 12 600 € direct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381744" y="24414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S4 — Maquettes CEO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381744" y="2615184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18 000 € · Réel 17 600 € → −400 € ✓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381744" y="27889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S9 — Livraison MVP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381744" y="2962656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55 000 € · Réel 58 200 € → +3 200 € ⚠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381744" y="313639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S12 — Recette validée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381744" y="3310128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98 350 € · Réel 91 800 € → −6 550 € ✓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345168" y="3602736"/>
            <a:ext cx="2560320" cy="301752"/>
          </a:xfrm>
          <a:prstGeom prst="rect">
            <a:avLst/>
          </a:prstGeom>
          <a:solidFill>
            <a:srgbClr val="E7F3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18320" y="3630168"/>
            <a:ext cx="239572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 KPI dashboard : budget conso · retard · coût/phase · météo collab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0116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201168" y="4709160"/>
            <a:ext cx="1828800" cy="45720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73 400 €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31089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RH totaux (TJM direct)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16712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167128" y="4709160"/>
            <a:ext cx="18288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7685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103 000 €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227685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RH réel employeur (+42% CDI)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3308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133088" y="4709160"/>
            <a:ext cx="1828800" cy="457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4281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5 050 €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424281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techniques &amp; outils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9904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099048" y="4709160"/>
            <a:ext cx="1828800" cy="45720"/>
          </a:xfrm>
          <a:prstGeom prst="rect">
            <a:avLst/>
          </a:prstGeom>
          <a:solidFill>
            <a:srgbClr val="6C3FB5"/>
          </a:solidFill>
          <a:ln w="12700">
            <a:solidFill>
              <a:srgbClr val="6C3F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0877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F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12 400 €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620877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imprévus (15%)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6500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065008" y="4709160"/>
            <a:ext cx="1828800" cy="457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7473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tâches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817473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sur 6 phases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003096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0030968" y="4709160"/>
            <a:ext cx="1828800" cy="457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14069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-6 550 €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1014069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final · réserve préservée ✓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1A1714"/>
          </a:solidFill>
          <a:ln w="12700">
            <a:solidFill>
              <a:srgbClr val="1A171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635508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 =  </a:t>
            </a:r>
            <a:pPr indent="0" marL="0">
              <a:buNone/>
            </a:pPr>
            <a:r>
              <a:rPr lang="en-US" sz="10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(73 400 €)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Technique &amp; outils (5 050 €)  +  Coûts cachés (2 250 €)  +  Mise en prod (3 300 €)  +  Réserve 15% (12 400 €)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98 350 €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Equipe &amp; Ressources Humaines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0292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7F77DD"/>
                </a:solidFill>
              </a:defRPr>
            </a:pPr>
            <a:r>
              <a:t>PM  —  Chef de projet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CDI Cadre  |  Salaire brut annuel : 58 000 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50292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D9E75"/>
                </a:solidFill>
              </a:defRPr>
            </a:pPr>
            <a:r>
              <a:t>BE  —  Dev Back-End Junior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CDI ETAM  |  Salaire brut annuel : 38 000 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50292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378ADD"/>
                </a:solidFill>
              </a:defRPr>
            </a:pPr>
            <a:r>
              <a:t>MOB  —  Dev Mobile Flutter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CDI ETAM  |  Salaire brut annuel : 55 000 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0292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4537E"/>
                </a:solidFill>
              </a:defRPr>
            </a:pPr>
            <a:r>
              <a:t>QA  —  QA Engineer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CDI ETAM  |  Salaire brut annuel : 45 000 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50292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E24B4A"/>
                </a:solidFill>
              </a:defRPr>
            </a:pPr>
            <a:r>
              <a:t>FRL  —  Freelance Paiement/Secu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Freelance  |  Salaire brut annuel : 130 000 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8288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78ADD"/>
                </a:solidFill>
              </a:defRPr>
            </a:pPr>
            <a:r>
              <a:t>Calcul du TJM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TJM = (Brut annuel x (1 + charges)) / Jours ouvres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CDI Cadre : charges 45%  |  218 j/an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CDI ETAM : charges 42%  |  218 j/an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Freelance : 0% charges  |  200 j/an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303520" cy="13716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BA7517"/>
                </a:solidFill>
              </a:defRPr>
            </a:pPr>
            <a:r>
              <a:t>Levier d'optimisation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Remplacement Dev Back-End Senior par Junior</a:t>
            </a:r>
          </a:p>
          <a:p>
            <a:pPr>
              <a:spcAft>
                <a:spcPts val="400"/>
              </a:spcAft>
              <a:defRPr sz="1300" b="1">
                <a:solidFill>
                  <a:srgbClr val="1D9E75"/>
                </a:solidFill>
              </a:defRPr>
            </a:pPr>
            <a:r>
              <a:t>Economie estimee : 6 500 EUR sur 8 semaines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Planning &amp; Gestion des risques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P1 — Cadrage &amp; Architecture  (S1 - S2)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Backlog, stack technique, architecture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109728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5 200 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P2 — UX/UI &amp; Architecture  (S1 - S3)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Maquettes HD, CI/CD, modele de donnees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12 800 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P3 — Developpement MVP  (S3 - S6)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API Back-End + App Mobile Flutter + Messagerie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56032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32 400 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P4 — Fonctionnalites Bonus  (S5 - S7)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Stripe, Geolocalisation, Mode invite, Remise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29184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14 500 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P5 — Tests &amp; Recette  (S6 - S8)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QA fonctionnel + securite paiement + UAT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02336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9 800 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77724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378ADD"/>
                </a:solidFill>
              </a:defRPr>
            </a:pPr>
            <a:r>
              <a:t>P6 — Mise en production  (S7 - S8)</a:t>
            </a:r>
          </a:p>
          <a:p>
            <a:pPr>
              <a:spcAft>
                <a:spcPts val="400"/>
              </a:spcAft>
              <a:defRPr sz="1100" b="0">
                <a:solidFill>
                  <a:srgbClr val="AAAAAA"/>
                </a:solidFill>
              </a:defRPr>
            </a:pPr>
            <a:r>
              <a:t>Deploiement + App Store + Play Store +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754880"/>
            <a:ext cx="1828800" cy="6400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9E75"/>
                </a:solidFill>
              </a:defRPr>
            </a:pPr>
            <a:r>
              <a:t>5 700 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24B4A"/>
                </a:solidFill>
              </a:defRPr>
            </a:pPr>
            <a:r>
              <a:t>Risques identifies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35040"/>
            <a:ext cx="11247120" cy="73152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0">
                <a:solidFill>
                  <a:srgbClr val="CCCCCC"/>
                </a:solidFill>
              </a:defRPr>
            </a:pPr>
            <a:r>
              <a:t>API ISBN : limite de taux depassee (Moyen — Resolu)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</a:defRPr>
            </a:pPr>
            <a:r>
              <a:t>Stripe : delai validation compte pro (Eleve — En cours)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</a:defRPr>
            </a:pPr>
            <a:r>
              <a:t>Derive charge Dev Mobile S7 (Moyen — En cours)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</a:defRPr>
            </a:pPr>
            <a:r>
              <a:t>DPO : recommandation stockage images (Faible — Resolu)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Dashboard Direction Financiere —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Jalon</a:t>
            </a:r>
          </a:p>
          <a:p>
            <a:pPr>
              <a:spcAft>
                <a:spcPts val="400"/>
              </a:spcAft>
              <a:defRPr sz="2400" b="1">
                <a:solidFill>
                  <a:srgbClr val="378ADD"/>
                </a:solidFill>
              </a:defRPr>
            </a:pPr>
            <a:r>
              <a:t>S8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Avancement</a:t>
            </a:r>
          </a:p>
          <a:p>
            <a:pPr>
              <a:spcAft>
                <a:spcPts val="400"/>
              </a:spcAft>
              <a:defRPr sz="2400" b="1">
                <a:solidFill>
                  <a:srgbClr val="1D9E75"/>
                </a:solidFill>
              </a:defRPr>
            </a:pPr>
            <a:r>
              <a:t>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Cout planifie</a:t>
            </a:r>
          </a:p>
          <a:p>
            <a:pPr>
              <a:spcAft>
                <a:spcPts val="400"/>
              </a:spcAft>
              <a:defRPr sz="2400" b="1">
                <a:solidFill>
                  <a:srgbClr val="378ADD"/>
                </a:solidFill>
              </a:defRPr>
            </a:pPr>
            <a:r>
              <a:t>31 590 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Cout reel</a:t>
            </a:r>
          </a:p>
          <a:p>
            <a:pPr>
              <a:spcAft>
                <a:spcPts val="400"/>
              </a:spcAft>
              <a:defRPr sz="2400" b="1">
                <a:solidFill>
                  <a:srgbClr val="378ADD"/>
                </a:solidFill>
              </a:defRPr>
            </a:pPr>
            <a:r>
              <a:t>33 422 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5603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Ecart</a:t>
            </a:r>
          </a:p>
          <a:p>
            <a:pPr>
              <a:spcAft>
                <a:spcPts val="400"/>
              </a:spcAft>
              <a:defRPr sz="2400" b="1">
                <a:solidFill>
                  <a:srgbClr val="E24B4A"/>
                </a:solidFill>
              </a:defRPr>
            </a:pPr>
            <a:r>
              <a:t>+5.8%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560320"/>
            <a:ext cx="3474720" cy="109728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0">
                <a:solidFill>
                  <a:srgbClr val="AAAAAA"/>
                </a:solidFill>
              </a:defRPr>
            </a:pPr>
            <a:r>
              <a:t>Budget valide</a:t>
            </a:r>
          </a:p>
          <a:p>
            <a:pPr>
              <a:spcAft>
                <a:spcPts val="400"/>
              </a:spcAft>
              <a:defRPr sz="2400" b="1">
                <a:solidFill>
                  <a:srgbClr val="378ADD"/>
                </a:solidFill>
              </a:defRPr>
            </a:pPr>
            <a:r>
              <a:t>130 000 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Suivi des jalons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77724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D9E75"/>
                </a:solidFill>
              </a:defRPr>
            </a:pPr>
            <a:r>
              <a:t>J1 — S4 : Maquettes CEO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Prevu 18 000 EUR  |  Reel 17 600 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754880"/>
            <a:ext cx="32004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D9E75"/>
                </a:solidFill>
              </a:defRPr>
            </a:pPr>
            <a:r>
              <a:t>-400 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77724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BA7517"/>
                </a:solidFill>
              </a:defRPr>
            </a:pPr>
            <a:r>
              <a:t>J2 — S8 : Livraison MVP</a:t>
            </a:r>
          </a:p>
          <a:p>
            <a:pPr>
              <a:spcAft>
                <a:spcPts val="400"/>
              </a:spcAft>
              <a:defRPr sz="1200" b="0">
                <a:solidFill>
                  <a:srgbClr val="BBBBBB"/>
                </a:solidFill>
              </a:defRPr>
            </a:pPr>
            <a:r>
              <a:t>Prevu 31 590 EUR  |  Reel 33 422 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5669280"/>
            <a:ext cx="3200400" cy="77724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A7517"/>
                </a:solidFill>
              </a:defRPr>
            </a:pPr>
            <a:r>
              <a:t>+1 832 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Synthese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D9E75"/>
                </a:solidFill>
              </a:defRPr>
            </a:pPr>
            <a:r>
              <a:t>Points cles du projet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Budget maitrise : ecart &lt; 6% sur le cout reel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MVP livre en 8 semaines (jan-fev 2025)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Reserve de 15% preservee en grande partie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5 profils optimises (levier Junior)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10 KPIs de pilotage operationnels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378ADD"/>
                </a:solidFill>
              </a:defRPr>
            </a:pPr>
            <a:r>
              <a:t>Prochaines etapes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Lancement beta test utilisateurs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Publication App Store &amp; Play Store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Acquisition premiers utilisateurs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Breakeven estime a M9-M10</a:t>
            </a:r>
          </a:p>
          <a:p>
            <a:pPr>
              <a:spcAft>
                <a:spcPts val="400"/>
              </a:spcAft>
              <a:defRPr sz="1300" b="0">
                <a:solidFill>
                  <a:srgbClr val="BBBBBB"/>
                </a:solidFill>
              </a:defRPr>
            </a:pPr>
            <a:r>
              <a:t>ROI positif a 24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2560320" cy="13716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1D9E75"/>
                </a:solidFill>
              </a:defRPr>
            </a:pPr>
            <a:r>
              <a:t>73 400 EUR</a:t>
            </a:r>
          </a:p>
          <a:p>
            <a:pPr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Couts RH totaux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572000"/>
            <a:ext cx="2560320" cy="13716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1D9E75"/>
                </a:solidFill>
              </a:defRPr>
            </a:pPr>
            <a:r>
              <a:t>5 050 EUR</a:t>
            </a:r>
          </a:p>
          <a:p>
            <a:pPr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Technique &amp; outils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572000"/>
            <a:ext cx="2560320" cy="13716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1D9E75"/>
                </a:solidFill>
              </a:defRPr>
            </a:pPr>
            <a:r>
              <a:t>12 400 EUR</a:t>
            </a:r>
          </a:p>
          <a:p>
            <a:pPr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Reserve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572000"/>
            <a:ext cx="2560320" cy="1371600"/>
          </a:xfrm>
          <a:prstGeom prst="roundRect">
            <a:avLst/>
          </a:prstGeom>
          <a:solidFill>
            <a:srgbClr val="2A3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98 350 EUR</a:t>
            </a:r>
          </a:p>
          <a:p>
            <a:pPr>
              <a:spcAft>
                <a:spcPts val="400"/>
              </a:spcAft>
              <a:defRPr sz="1200" b="0">
                <a:solidFill>
                  <a:srgbClr val="AAAAAA"/>
                </a:solidFill>
              </a:defRPr>
            </a:pPr>
            <a:r>
              <a:t>Budget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F5E5A"/>
                </a:solidFill>
              </a:defRPr>
            </a:pPr>
            <a:r>
              <a:t>Book One — Pilotage par les couts  |  Sup de Vinci M2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