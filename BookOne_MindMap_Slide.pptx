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1714"/>
          </a:solidFill>
          <a:ln w="12700">
            <a:solidFill>
              <a:srgbClr val="1A17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ONE  </a:t>
            </a:r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Budget Prévisionnel MVP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36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206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69680" y="36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98 350 €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0" y="4206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966960" y="36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j/h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0" y="4206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Jours/homme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64240" y="3657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profils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064240" y="4206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" y="886968"/>
            <a:ext cx="2834640" cy="38404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" y="8869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Périmètre &amp; Hypothèses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" y="1271016"/>
            <a:ext cx="2834640" cy="2002536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" y="139903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(9 fonctionnalités)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" y="157276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· Catalogue · Favoris · Dépôt · Achat 1€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9184" y="174650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MVP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" y="1920240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 vente · Messagerie RDV · Souhaits · Notif souhait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184" y="209397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(4 fonctionnalités)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" y="22677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invité · Géolocalisation · Stripe · Remise main propre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9184" y="24414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clés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" y="2615184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TJM/j × j/h = coût tâche · Réserve 15% · Complexité F/M/F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2907792"/>
            <a:ext cx="2651760" cy="301752"/>
          </a:xfrm>
          <a:prstGeom prst="rect">
            <a:avLst/>
          </a:prstGeom>
          <a:solidFill>
            <a:srgbClr val="E6F3F3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35224"/>
            <a:ext cx="24871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1 jan → Livraison 31 mars 2025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886968"/>
            <a:ext cx="2834640" cy="384048"/>
          </a:xfrm>
          <a:prstGeom prst="rect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28416" y="8869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Structure des coûts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18688" y="1271016"/>
            <a:ext cx="28346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46704" y="139903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salariés CDI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46704" y="157276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projet · UX · Dev mob · Dev back · DevOps · QA  →  60 800 €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46704" y="174650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46704" y="1920240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· Sécu · Géoloc · Archi  →  12 600 €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46704" y="209397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Alternant + Stagiaire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46704" y="22677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80 €/j · 50 €/j (charges incluses)  →  2 350 €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46704" y="24414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&amp; outils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46704" y="2615184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BDD · API · Stripe · Notifs · Monitoring  →  5 050 €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46704" y="27889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cachés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46704" y="2962656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· Corrections · Documentation  →  2 250 €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46704" y="31363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 &amp; stores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46704" y="331012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App Store + Play Store  →  3 300 €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10128" y="3602736"/>
            <a:ext cx="2651760" cy="301752"/>
          </a:xfrm>
          <a:prstGeom prst="rect">
            <a:avLst/>
          </a:prstGeom>
          <a:solidFill>
            <a:srgbClr val="FDF1D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630168"/>
            <a:ext cx="24871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Réserve imprévus 15% : 12 400 €  →  Total : 98 350 €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36208" y="886968"/>
            <a:ext cx="2834640" cy="384048"/>
          </a:xfrm>
          <a:prstGeom prst="rect">
            <a:avLst/>
          </a:prstGeom>
          <a:solidFill>
            <a:srgbClr val="6C3FB5"/>
          </a:solidFill>
          <a:ln w="12700">
            <a:solidFill>
              <a:srgbClr val="6C3FB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45936" y="8869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Planning &amp; Risques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36208" y="1271016"/>
            <a:ext cx="28346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64224" y="139903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Cadrage  S1–S3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64224" y="157276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5 200 €  ·  Backlog, stack, archi cloud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64224" y="174650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UX/UI &amp; Archi  S3–S6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64224" y="1920240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12 800 €  ·  Maquettes HD, CI/CD, modèle données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64224" y="209397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Dev MVP  S5–S10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64224" y="22677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32 400 €  ·  API + App mobile + Messagerie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64224" y="2441448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Bonus  S8–S11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64224" y="2615184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14 500 €  ·  Stripe · Géoloc · Invité · Remise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64224" y="27889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Tests &amp; Recette  S10–S12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364224" y="2962656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9 800 €   ·  QA fonctionnel + sécurité + UAT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64224" y="31363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Production  S12–S13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64224" y="331012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5 700 €   ·  Déploiement + Stores + Monitoring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327648" y="3602736"/>
            <a:ext cx="2651760" cy="301752"/>
          </a:xfrm>
          <a:prstGeom prst="rect">
            <a:avLst/>
          </a:prstGeom>
          <a:solidFill>
            <a:srgbClr val="F0EBF9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3630168"/>
            <a:ext cx="24871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C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Risques : Géoloc complexe · Freelance +3j · CEO retard · Stores +1s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253728" y="886968"/>
            <a:ext cx="2743200" cy="384048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363456" y="886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Équipe &amp; Suivi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253728" y="1271016"/>
            <a:ext cx="27432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381744" y="139903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profils  ·  168 j/h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381744" y="1572768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 réel = (brut×1.42) ÷ 218j  →  coût employeur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381744" y="174650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mobile  30j  ·  Dev back  28j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381744" y="1920240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550 €/j TJM direct  ·  780 €/j TJM réel employeur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381744" y="209397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 18j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9381744" y="2267712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700 €/j · Pas de charges · = 12 600 € direct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381744" y="244144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S4 — Maquettes CEO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381744" y="2615184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 18 000 € · Réel 17 600 € → −400 € ✓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381744" y="27889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S9 — Livraison MVP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9381744" y="2962656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 55 000 € · Réel 58 200 € → +3 200 € ⚠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381744" y="3136392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S12 — Recette validée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9381744" y="3310128"/>
            <a:ext cx="2514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 98 350 € · Réel 91 800 € → −6 550 € ✓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345168" y="3602736"/>
            <a:ext cx="2560320" cy="301752"/>
          </a:xfrm>
          <a:prstGeom prst="rect">
            <a:avLst/>
          </a:prstGeom>
          <a:solidFill>
            <a:srgbClr val="E7F3EC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18320" y="3630168"/>
            <a:ext cx="239572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 KPI dashboard : budget conso · retard · coût/phase · météo collab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0116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201168" y="4709160"/>
            <a:ext cx="1828800" cy="45720"/>
          </a:xfrm>
          <a:prstGeom prst="rect">
            <a:avLst/>
          </a:prstGeom>
          <a:solidFill>
            <a:srgbClr val="E8890C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089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9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73 400 €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31089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RH totaux (TJM direct)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16712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2167128" y="4709160"/>
            <a:ext cx="18288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7685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103 000 €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227685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RH réel employeur (+42% CDI)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13308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133088" y="4709160"/>
            <a:ext cx="1828800" cy="457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4281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5 050 €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424281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techniques &amp; outils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09904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099048" y="4709160"/>
            <a:ext cx="1828800" cy="45720"/>
          </a:xfrm>
          <a:prstGeom prst="rect">
            <a:avLst/>
          </a:prstGeom>
          <a:solidFill>
            <a:srgbClr val="6C3FB5"/>
          </a:solidFill>
          <a:ln w="12700">
            <a:solidFill>
              <a:srgbClr val="6C3FB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0877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3F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12 400 €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620877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imprévus (15%)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06500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8065008" y="4709160"/>
            <a:ext cx="1828800" cy="457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7473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tâches</a:t>
            </a:r>
            <a:endParaRPr lang="en-US" sz="1500" dirty="0"/>
          </a:p>
        </p:txBody>
      </p:sp>
      <p:sp>
        <p:nvSpPr>
          <p:cNvPr id="95" name="Text 93"/>
          <p:cNvSpPr/>
          <p:nvPr/>
        </p:nvSpPr>
        <p:spPr>
          <a:xfrm>
            <a:off x="817473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Réparties sur 6 phases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0030968" y="470916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A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10030968" y="4709160"/>
            <a:ext cx="1828800" cy="457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140696" y="48006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-6 550 €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10140696" y="52120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final · réserve préservée ✓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1A1714"/>
          </a:solidFill>
          <a:ln w="12700">
            <a:solidFill>
              <a:srgbClr val="1A171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4320" y="635508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 =  </a:t>
            </a:r>
            <a:pPr indent="0" marL="0">
              <a:buNone/>
            </a:pPr>
            <a:r>
              <a:rPr lang="en-US" sz="1000" b="1" dirty="0">
                <a:solidFill>
                  <a:srgbClr val="E88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(73 400 €)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Technique &amp; outils (5 050 €)  +  Coûts cachés (2 250 €)  +  Mise en prod (3 300 €)  +  Réserve 15% (12 400 €)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98 350 €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2026-05-05T13:55:48Z</dcterms:created>
  <dcterms:modified xsi:type="dcterms:W3CDTF">2026-05-05T13:55:48Z</dcterms:modified>
</cp:coreProperties>
</file>